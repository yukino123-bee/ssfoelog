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71" r:id="rId3"/>
    <p:sldId id="261" r:id="rId4"/>
    <p:sldId id="283" r:id="rId5"/>
    <p:sldId id="282" r:id="rId6"/>
    <p:sldId id="293" r:id="rId7"/>
    <p:sldId id="295" r:id="rId8"/>
    <p:sldId id="294" r:id="rId9"/>
    <p:sldId id="296" r:id="rId10"/>
  </p:sldIdLst>
  <p:sldSz cx="18288000" cy="10287000"/>
  <p:notesSz cx="6858000" cy="9144000"/>
  <p:embeddedFontLst>
    <p:embeddedFont>
      <p:font typeface="Arial Bold" panose="020B0704020202020204" pitchFamily="34" charset="0"/>
      <p:bold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3" userDrawn="1">
          <p15:clr>
            <a:srgbClr val="A4A3A4"/>
          </p15:clr>
        </p15:guide>
        <p15:guide id="2" pos="28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45" d="100"/>
          <a:sy n="45" d="100"/>
        </p:scale>
        <p:origin x="548" y="20"/>
      </p:cViewPr>
      <p:guideLst>
        <p:guide orient="horz" pos="2173"/>
        <p:guide pos="2876"/>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1BED5C-66E3-4BA1-B1A2-E7753AF19AEC}" type="datetimeFigureOut">
              <a:rPr lang="en-PH" smtClean="0"/>
              <a:t>21/08/2026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6CAF09-1A49-4292-842C-F90A9FD7EDA5}" type="slidenum">
              <a:rPr lang="en-PH" smtClean="0"/>
              <a:t>‹#›</a:t>
            </a:fld>
            <a:endParaRPr lang="en-PH"/>
          </a:p>
        </p:txBody>
      </p:sp>
    </p:spTree>
    <p:extLst>
      <p:ext uri="{BB962C8B-B14F-4D97-AF65-F5344CB8AC3E}">
        <p14:creationId xmlns:p14="http://schemas.microsoft.com/office/powerpoint/2010/main" val="446280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8/21/2026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hashOverlay-FullResolv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alphaModFix amt="9999"/>
              </a:blip>
              <a:stretch>
                <a:fillRect/>
              </a:stretch>
            </a:blipFill>
          </p:spPr>
        </p:sp>
      </p:grpSp>
      <p:grpSp>
        <p:nvGrpSpPr>
          <p:cNvPr id="4" name="Group 4"/>
          <p:cNvGrpSpPr/>
          <p:nvPr/>
        </p:nvGrpSpPr>
        <p:grpSpPr>
          <a:xfrm>
            <a:off x="1" y="6364281"/>
            <a:ext cx="13452129" cy="413909"/>
            <a:chOff x="0" y="0"/>
            <a:chExt cx="17936172" cy="551878"/>
          </a:xfrm>
        </p:grpSpPr>
        <p:sp>
          <p:nvSpPr>
            <p:cNvPr id="5" name="Freeform 5" descr="HD-ShadowLong.png"/>
            <p:cNvSpPr/>
            <p:nvPr/>
          </p:nvSpPr>
          <p:spPr>
            <a:xfrm>
              <a:off x="0" y="0"/>
              <a:ext cx="17936211" cy="551942"/>
            </a:xfrm>
            <a:custGeom>
              <a:avLst/>
              <a:gdLst/>
              <a:ahLst/>
              <a:cxnLst/>
              <a:rect l="l" t="t" r="r" b="b"/>
              <a:pathLst>
                <a:path w="17936211" h="551942">
                  <a:moveTo>
                    <a:pt x="0" y="0"/>
                  </a:moveTo>
                  <a:lnTo>
                    <a:pt x="17936211" y="0"/>
                  </a:lnTo>
                  <a:lnTo>
                    <a:pt x="17936211" y="551942"/>
                  </a:lnTo>
                  <a:lnTo>
                    <a:pt x="0" y="551942"/>
                  </a:lnTo>
                  <a:lnTo>
                    <a:pt x="0" y="0"/>
                  </a:lnTo>
                  <a:close/>
                </a:path>
              </a:pathLst>
            </a:custGeom>
            <a:blipFill>
              <a:blip r:embed="rId3"/>
              <a:stretch>
                <a:fillRect b="11"/>
              </a:stretch>
            </a:blipFill>
          </p:spPr>
        </p:sp>
      </p:grpSp>
      <p:grpSp>
        <p:nvGrpSpPr>
          <p:cNvPr id="6" name="Group 6"/>
          <p:cNvGrpSpPr/>
          <p:nvPr/>
        </p:nvGrpSpPr>
        <p:grpSpPr>
          <a:xfrm>
            <a:off x="13667575" y="6365767"/>
            <a:ext cx="4615663" cy="415414"/>
            <a:chOff x="0" y="0"/>
            <a:chExt cx="6154217" cy="553885"/>
          </a:xfrm>
        </p:grpSpPr>
        <p:sp>
          <p:nvSpPr>
            <p:cNvPr id="7" name="Freeform 7" descr="HD-ShadowShort.png"/>
            <p:cNvSpPr/>
            <p:nvPr/>
          </p:nvSpPr>
          <p:spPr>
            <a:xfrm>
              <a:off x="0" y="0"/>
              <a:ext cx="6154166" cy="553847"/>
            </a:xfrm>
            <a:custGeom>
              <a:avLst/>
              <a:gdLst/>
              <a:ahLst/>
              <a:cxnLst/>
              <a:rect l="l" t="t" r="r" b="b"/>
              <a:pathLst>
                <a:path w="6154166" h="553847">
                  <a:moveTo>
                    <a:pt x="0" y="0"/>
                  </a:moveTo>
                  <a:lnTo>
                    <a:pt x="6154166" y="0"/>
                  </a:lnTo>
                  <a:lnTo>
                    <a:pt x="6154166" y="553847"/>
                  </a:lnTo>
                  <a:lnTo>
                    <a:pt x="0" y="553847"/>
                  </a:lnTo>
                  <a:lnTo>
                    <a:pt x="0" y="0"/>
                  </a:lnTo>
                  <a:close/>
                </a:path>
              </a:pathLst>
            </a:custGeom>
            <a:blipFill>
              <a:blip r:embed="rId4"/>
              <a:stretch>
                <a:fillRect b="-6"/>
              </a:stretch>
            </a:blipFill>
          </p:spPr>
        </p:sp>
      </p:grpSp>
      <p:grpSp>
        <p:nvGrpSpPr>
          <p:cNvPr id="8" name="Group 8"/>
          <p:cNvGrpSpPr/>
          <p:nvPr/>
        </p:nvGrpSpPr>
        <p:grpSpPr>
          <a:xfrm>
            <a:off x="0" y="3885114"/>
            <a:ext cx="13452129" cy="2490502"/>
            <a:chOff x="0" y="0"/>
            <a:chExt cx="17936172" cy="3320669"/>
          </a:xfrm>
        </p:grpSpPr>
        <p:sp>
          <p:nvSpPr>
            <p:cNvPr id="9" name="Freeform 9"/>
            <p:cNvSpPr/>
            <p:nvPr/>
          </p:nvSpPr>
          <p:spPr>
            <a:xfrm>
              <a:off x="0" y="0"/>
              <a:ext cx="17936211" cy="3320669"/>
            </a:xfrm>
            <a:custGeom>
              <a:avLst/>
              <a:gdLst/>
              <a:ahLst/>
              <a:cxnLst/>
              <a:rect l="l" t="t" r="r" b="b"/>
              <a:pathLst>
                <a:path w="17936211" h="3320669">
                  <a:moveTo>
                    <a:pt x="0" y="0"/>
                  </a:moveTo>
                  <a:lnTo>
                    <a:pt x="17936211" y="0"/>
                  </a:lnTo>
                  <a:lnTo>
                    <a:pt x="17936211" y="3320669"/>
                  </a:lnTo>
                  <a:lnTo>
                    <a:pt x="0" y="3320669"/>
                  </a:lnTo>
                  <a:close/>
                </a:path>
              </a:pathLst>
            </a:custGeom>
            <a:solidFill>
              <a:srgbClr val="262626"/>
            </a:solidFill>
          </p:spPr>
        </p:sp>
      </p:grpSp>
      <p:grpSp>
        <p:nvGrpSpPr>
          <p:cNvPr id="10" name="Group 10"/>
          <p:cNvGrpSpPr/>
          <p:nvPr/>
        </p:nvGrpSpPr>
        <p:grpSpPr>
          <a:xfrm>
            <a:off x="13667575" y="3885114"/>
            <a:ext cx="4615663" cy="2490502"/>
            <a:chOff x="0" y="0"/>
            <a:chExt cx="6154217" cy="3320669"/>
          </a:xfrm>
        </p:grpSpPr>
        <p:sp>
          <p:nvSpPr>
            <p:cNvPr id="11" name="Freeform 11"/>
            <p:cNvSpPr/>
            <p:nvPr/>
          </p:nvSpPr>
          <p:spPr>
            <a:xfrm>
              <a:off x="0" y="0"/>
              <a:ext cx="6154166" cy="3320669"/>
            </a:xfrm>
            <a:custGeom>
              <a:avLst/>
              <a:gdLst/>
              <a:ahLst/>
              <a:cxnLst/>
              <a:rect l="l" t="t" r="r" b="b"/>
              <a:pathLst>
                <a:path w="6154166" h="3320669">
                  <a:moveTo>
                    <a:pt x="0" y="0"/>
                  </a:moveTo>
                  <a:lnTo>
                    <a:pt x="6154166" y="0"/>
                  </a:lnTo>
                  <a:lnTo>
                    <a:pt x="6154166" y="3320669"/>
                  </a:lnTo>
                  <a:lnTo>
                    <a:pt x="0" y="3320669"/>
                  </a:lnTo>
                  <a:close/>
                </a:path>
              </a:pathLst>
            </a:custGeom>
            <a:solidFill>
              <a:srgbClr val="A7D535"/>
            </a:solidFill>
          </p:spPr>
        </p:sp>
      </p:grpSp>
      <p:grpSp>
        <p:nvGrpSpPr>
          <p:cNvPr id="12" name="Group 12"/>
          <p:cNvGrpSpPr/>
          <p:nvPr/>
        </p:nvGrpSpPr>
        <p:grpSpPr>
          <a:xfrm>
            <a:off x="399213" y="4076929"/>
            <a:ext cx="13683499" cy="1841354"/>
            <a:chOff x="532284" y="-59384"/>
            <a:chExt cx="18244666" cy="2455139"/>
          </a:xfrm>
        </p:grpSpPr>
        <p:sp>
          <p:nvSpPr>
            <p:cNvPr id="13" name="Freeform 13"/>
            <p:cNvSpPr/>
            <p:nvPr/>
          </p:nvSpPr>
          <p:spPr>
            <a:xfrm>
              <a:off x="1117600" y="-59384"/>
              <a:ext cx="17659350" cy="2374900"/>
            </a:xfrm>
            <a:custGeom>
              <a:avLst/>
              <a:gdLst/>
              <a:ahLst/>
              <a:cxnLst/>
              <a:rect l="l" t="t" r="r" b="b"/>
              <a:pathLst>
                <a:path w="17659350" h="2374900">
                  <a:moveTo>
                    <a:pt x="0" y="0"/>
                  </a:moveTo>
                  <a:lnTo>
                    <a:pt x="17659350" y="0"/>
                  </a:lnTo>
                  <a:lnTo>
                    <a:pt x="17659350" y="2374900"/>
                  </a:lnTo>
                  <a:lnTo>
                    <a:pt x="0" y="2374900"/>
                  </a:lnTo>
                  <a:close/>
                </a:path>
              </a:pathLst>
            </a:custGeom>
            <a:blipFill>
              <a:blip r:embed="rId5">
                <a:alphaModFix amt="0"/>
              </a:blip>
              <a:stretch>
                <a:fillRect t="-94887" b="-94887"/>
              </a:stretch>
            </a:blipFill>
          </p:spPr>
        </p:sp>
        <p:sp>
          <p:nvSpPr>
            <p:cNvPr id="14" name="TextBox 14"/>
            <p:cNvSpPr txBox="1"/>
            <p:nvPr/>
          </p:nvSpPr>
          <p:spPr>
            <a:xfrm>
              <a:off x="532284" y="78004"/>
              <a:ext cx="17659350" cy="2317751"/>
            </a:xfrm>
            <a:prstGeom prst="rect">
              <a:avLst/>
            </a:prstGeom>
          </p:spPr>
          <p:txBody>
            <a:bodyPr lIns="0" tIns="0" rIns="0" bIns="0" rtlCol="0" anchor="b"/>
            <a:lstStyle/>
            <a:p>
              <a:pPr>
                <a:lnSpc>
                  <a:spcPts val="7775"/>
                </a:lnSpc>
              </a:pPr>
              <a:r>
                <a:rPr lang="en-US" sz="8800" b="1" dirty="0" err="1">
                  <a:solidFill>
                    <a:srgbClr val="FFFFFF"/>
                  </a:solidFill>
                  <a:latin typeface="Times New Roman" panose="02020603050405020304" pitchFamily="18" charset="0"/>
                  <a:cs typeface="Times New Roman" panose="02020603050405020304" pitchFamily="18" charset="0"/>
                </a:rPr>
                <a:t>CommuniFund</a:t>
              </a:r>
              <a:r>
                <a:rPr lang="en-US" sz="8800" b="1" dirty="0">
                  <a:solidFill>
                    <a:srgbClr val="FFFFFF"/>
                  </a:solidFill>
                  <a:latin typeface="Times New Roman" panose="02020603050405020304" pitchFamily="18" charset="0"/>
                  <a:cs typeface="Times New Roman" panose="02020603050405020304" pitchFamily="18" charset="0"/>
                </a:rPr>
                <a:t> Assistance</a:t>
              </a:r>
              <a:endParaRPr lang="en-US" altLang="en-US" sz="8800" b="1" dirty="0">
                <a:solidFill>
                  <a:srgbClr val="FFFFFF"/>
                </a:solidFill>
                <a:latin typeface="Arial Bold" panose="020B0704020202020204"/>
                <a:ea typeface="Arial Bold" panose="020B0704020202020204"/>
                <a:cs typeface="Arial Bold" panose="020B0704020202020204"/>
                <a:sym typeface="Arial Bold" panose="020B0704020202020204"/>
              </a:endParaRPr>
            </a:p>
          </p:txBody>
        </p:sp>
      </p:grpSp>
      <p:grpSp>
        <p:nvGrpSpPr>
          <p:cNvPr id="15" name="Group 15"/>
          <p:cNvGrpSpPr/>
          <p:nvPr/>
        </p:nvGrpSpPr>
        <p:grpSpPr>
          <a:xfrm>
            <a:off x="0" y="7202805"/>
            <a:ext cx="6942888" cy="1964759"/>
            <a:chOff x="0" y="0"/>
            <a:chExt cx="9257183" cy="2619679"/>
          </a:xfrm>
        </p:grpSpPr>
        <p:sp>
          <p:nvSpPr>
            <p:cNvPr id="16" name="Freeform 16"/>
            <p:cNvSpPr/>
            <p:nvPr/>
          </p:nvSpPr>
          <p:spPr>
            <a:xfrm>
              <a:off x="0" y="0"/>
              <a:ext cx="8014970" cy="2053590"/>
            </a:xfrm>
            <a:custGeom>
              <a:avLst/>
              <a:gdLst/>
              <a:ahLst/>
              <a:cxnLst/>
              <a:rect l="l" t="t" r="r" b="b"/>
              <a:pathLst>
                <a:path w="8014970" h="2053590">
                  <a:moveTo>
                    <a:pt x="0" y="0"/>
                  </a:moveTo>
                  <a:lnTo>
                    <a:pt x="8014970" y="0"/>
                  </a:lnTo>
                  <a:lnTo>
                    <a:pt x="8014970" y="2053590"/>
                  </a:lnTo>
                  <a:lnTo>
                    <a:pt x="0" y="2053590"/>
                  </a:lnTo>
                  <a:close/>
                </a:path>
              </a:pathLst>
            </a:custGeom>
            <a:blipFill>
              <a:blip r:embed="rId5">
                <a:alphaModFix amt="0"/>
              </a:blip>
              <a:stretch>
                <a:fillRect t="-26048" b="-26048"/>
              </a:stretch>
            </a:blipFill>
          </p:spPr>
        </p:sp>
        <p:sp>
          <p:nvSpPr>
            <p:cNvPr id="17" name="TextBox 17"/>
            <p:cNvSpPr txBox="1"/>
            <p:nvPr/>
          </p:nvSpPr>
          <p:spPr>
            <a:xfrm>
              <a:off x="519584" y="594664"/>
              <a:ext cx="8737599" cy="2025015"/>
            </a:xfrm>
            <a:prstGeom prst="rect">
              <a:avLst/>
            </a:prstGeom>
          </p:spPr>
          <p:txBody>
            <a:bodyPr lIns="0" tIns="0" rIns="0" bIns="0" rtlCol="0" anchor="b"/>
            <a:lstStyle/>
            <a:p>
              <a:pPr algn="l">
                <a:lnSpc>
                  <a:spcPts val="4990"/>
                </a:lnSpc>
              </a:pPr>
              <a:endParaRPr lang="en-US" sz="4620" dirty="0">
                <a:solidFill>
                  <a:srgbClr val="FFFFFF"/>
                </a:solidFill>
                <a:latin typeface="Arial" panose="020B0604020202020204"/>
                <a:ea typeface="Arial" panose="020B0604020202020204"/>
                <a:cs typeface="Arial" panose="020B0604020202020204"/>
                <a:sym typeface="Arial" panose="020B0604020202020204"/>
              </a:endParaRPr>
            </a:p>
            <a:p>
              <a:pPr algn="l">
                <a:lnSpc>
                  <a:spcPts val="4990"/>
                </a:lnSpc>
              </a:pPr>
              <a:r>
                <a:rPr lang="en-US" sz="4620" dirty="0">
                  <a:solidFill>
                    <a:srgbClr val="FFFFFF"/>
                  </a:solidFill>
                  <a:latin typeface="Arial" panose="020B0604020202020204"/>
                  <a:ea typeface="Arial" panose="020B0604020202020204"/>
                  <a:cs typeface="Arial" panose="020B0604020202020204"/>
                  <a:sym typeface="Arial" panose="020B0604020202020204"/>
                </a:rPr>
                <a:t>Members:</a:t>
              </a:r>
            </a:p>
            <a:p>
              <a:pPr algn="l">
                <a:lnSpc>
                  <a:spcPts val="4990"/>
                </a:lnSpc>
              </a:pPr>
              <a:r>
                <a:rPr lang="en-US" sz="4620" dirty="0">
                  <a:solidFill>
                    <a:srgbClr val="FFFFFF"/>
                  </a:solidFill>
                  <a:latin typeface="Arial" panose="020B0604020202020204"/>
                  <a:ea typeface="Arial" panose="020B0604020202020204"/>
                  <a:cs typeface="Arial" panose="020B0604020202020204"/>
                  <a:sym typeface="Arial" panose="020B0604020202020204"/>
                </a:rPr>
                <a:t>Cagatin, Mark Jed M.</a:t>
              </a:r>
            </a:p>
            <a:p>
              <a:pPr algn="l">
                <a:lnSpc>
                  <a:spcPts val="4990"/>
                </a:lnSpc>
              </a:pPr>
              <a:r>
                <a:rPr lang="en-US" sz="4620" dirty="0" err="1">
                  <a:solidFill>
                    <a:srgbClr val="FFFFFF"/>
                  </a:solidFill>
                  <a:latin typeface="Arial" panose="020B0604020202020204"/>
                  <a:ea typeface="Arial" panose="020B0604020202020204"/>
                  <a:cs typeface="Arial" panose="020B0604020202020204"/>
                  <a:sym typeface="Arial" panose="020B0604020202020204"/>
                </a:rPr>
                <a:t>Calig-onan</a:t>
              </a:r>
              <a:r>
                <a:rPr lang="en-US" sz="4620" dirty="0">
                  <a:solidFill>
                    <a:srgbClr val="FFFFFF"/>
                  </a:solidFill>
                  <a:latin typeface="Arial" panose="020B0604020202020204"/>
                  <a:ea typeface="Arial" panose="020B0604020202020204"/>
                  <a:cs typeface="Arial" panose="020B0604020202020204"/>
                  <a:sym typeface="Arial" panose="020B0604020202020204"/>
                </a:rPr>
                <a:t>, </a:t>
              </a:r>
              <a:r>
                <a:rPr lang="en-US" sz="4620" dirty="0" err="1">
                  <a:solidFill>
                    <a:srgbClr val="FFFFFF"/>
                  </a:solidFill>
                  <a:latin typeface="Arial" panose="020B0604020202020204"/>
                  <a:ea typeface="Arial" panose="020B0604020202020204"/>
                  <a:cs typeface="Arial" panose="020B0604020202020204"/>
                  <a:sym typeface="Arial" panose="020B0604020202020204"/>
                </a:rPr>
                <a:t>Joryl</a:t>
              </a:r>
              <a:r>
                <a:rPr lang="en-US" sz="4620" dirty="0">
                  <a:solidFill>
                    <a:srgbClr val="FFFFFF"/>
                  </a:solidFill>
                  <a:latin typeface="Arial" panose="020B0604020202020204"/>
                  <a:ea typeface="Arial" panose="020B0604020202020204"/>
                  <a:cs typeface="Arial" panose="020B0604020202020204"/>
                  <a:sym typeface="Arial" panose="020B0604020202020204"/>
                </a:rPr>
                <a:t> John P.</a:t>
              </a:r>
            </a:p>
            <a:p>
              <a:pPr algn="l">
                <a:lnSpc>
                  <a:spcPts val="4990"/>
                </a:lnSpc>
              </a:pPr>
              <a:r>
                <a:rPr lang="en-US" sz="4620" dirty="0">
                  <a:solidFill>
                    <a:srgbClr val="FFFFFF"/>
                  </a:solidFill>
                  <a:latin typeface="Arial" panose="020B0604020202020204"/>
                  <a:ea typeface="Arial" panose="020B0604020202020204"/>
                  <a:cs typeface="Arial" panose="020B0604020202020204"/>
                  <a:sym typeface="Arial" panose="020B0604020202020204"/>
                </a:rPr>
                <a:t>Caresma, Zirel C.</a:t>
              </a:r>
            </a:p>
          </p:txBody>
        </p:sp>
      </p:grpSp>
      <p:grpSp>
        <p:nvGrpSpPr>
          <p:cNvPr id="18" name="Group 18"/>
          <p:cNvGrpSpPr/>
          <p:nvPr/>
        </p:nvGrpSpPr>
        <p:grpSpPr>
          <a:xfrm>
            <a:off x="15864030" y="4461300"/>
            <a:ext cx="2401291" cy="2371973"/>
            <a:chOff x="0" y="0"/>
            <a:chExt cx="3201721" cy="3162630"/>
          </a:xfrm>
        </p:grpSpPr>
        <p:sp>
          <p:nvSpPr>
            <p:cNvPr id="19" name="Freeform 19"/>
            <p:cNvSpPr/>
            <p:nvPr/>
          </p:nvSpPr>
          <p:spPr>
            <a:xfrm>
              <a:off x="0" y="0"/>
              <a:ext cx="3201670" cy="3162681"/>
            </a:xfrm>
            <a:custGeom>
              <a:avLst/>
              <a:gdLst/>
              <a:ahLst/>
              <a:cxnLst/>
              <a:rect l="l" t="t" r="r" b="b"/>
              <a:pathLst>
                <a:path w="3201670" h="3162681">
                  <a:moveTo>
                    <a:pt x="0" y="0"/>
                  </a:moveTo>
                  <a:lnTo>
                    <a:pt x="3201670" y="0"/>
                  </a:lnTo>
                  <a:lnTo>
                    <a:pt x="3201670" y="3162681"/>
                  </a:lnTo>
                  <a:lnTo>
                    <a:pt x="0" y="3162681"/>
                  </a:lnTo>
                  <a:lnTo>
                    <a:pt x="0" y="0"/>
                  </a:lnTo>
                  <a:close/>
                </a:path>
              </a:pathLst>
            </a:custGeom>
            <a:blipFill>
              <a:blip r:embed="rId6"/>
              <a:stretch>
                <a:fillRect r="-1" b="1"/>
              </a:stretch>
            </a:blipFill>
          </p:spPr>
        </p:sp>
      </p:grpSp>
      <p:grpSp>
        <p:nvGrpSpPr>
          <p:cNvPr id="20" name="Group 20"/>
          <p:cNvGrpSpPr/>
          <p:nvPr/>
        </p:nvGrpSpPr>
        <p:grpSpPr>
          <a:xfrm>
            <a:off x="13510450" y="2896000"/>
            <a:ext cx="2743400" cy="2743400"/>
            <a:chOff x="0" y="0"/>
            <a:chExt cx="3657867" cy="3657867"/>
          </a:xfrm>
        </p:grpSpPr>
        <p:sp>
          <p:nvSpPr>
            <p:cNvPr id="21" name="Freeform 21"/>
            <p:cNvSpPr/>
            <p:nvPr/>
          </p:nvSpPr>
          <p:spPr>
            <a:xfrm>
              <a:off x="0" y="0"/>
              <a:ext cx="3657854" cy="3657854"/>
            </a:xfrm>
            <a:custGeom>
              <a:avLst/>
              <a:gdLst/>
              <a:ahLst/>
              <a:cxnLst/>
              <a:rect l="l" t="t" r="r" b="b"/>
              <a:pathLst>
                <a:path w="3657854" h="3657854">
                  <a:moveTo>
                    <a:pt x="0" y="0"/>
                  </a:moveTo>
                  <a:lnTo>
                    <a:pt x="3657854" y="0"/>
                  </a:lnTo>
                  <a:lnTo>
                    <a:pt x="3657854" y="3657854"/>
                  </a:lnTo>
                  <a:lnTo>
                    <a:pt x="0" y="3657854"/>
                  </a:lnTo>
                  <a:lnTo>
                    <a:pt x="0" y="0"/>
                  </a:lnTo>
                  <a:close/>
                </a:path>
              </a:pathLst>
            </a:custGeom>
            <a:blipFill>
              <a:blip r:embed="rId7"/>
              <a:stretch>
                <a:fillRect/>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4772" y="-283300"/>
            <a:ext cx="18288000" cy="10287000"/>
            <a:chOff x="0" y="0"/>
            <a:chExt cx="24384000" cy="13716000"/>
          </a:xfrm>
        </p:grpSpPr>
        <p:sp>
          <p:nvSpPr>
            <p:cNvPr id="4" name="Freeform 4" descr="hashOverlay-FullResolv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alphaModFix amt="9999"/>
              </a:blip>
              <a:stretch>
                <a:fillRect/>
              </a:stretch>
            </a:blipFill>
          </p:spPr>
        </p:sp>
      </p:grpSp>
      <p:grpSp>
        <p:nvGrpSpPr>
          <p:cNvPr id="5" name="Group 5"/>
          <p:cNvGrpSpPr/>
          <p:nvPr/>
        </p:nvGrpSpPr>
        <p:grpSpPr>
          <a:xfrm>
            <a:off x="1" y="2955360"/>
            <a:ext cx="15656719" cy="481746"/>
            <a:chOff x="0" y="0"/>
            <a:chExt cx="20875625" cy="642328"/>
          </a:xfrm>
        </p:grpSpPr>
        <p:sp>
          <p:nvSpPr>
            <p:cNvPr id="6" name="Freeform 6" descr="HD-ShadowLong.png"/>
            <p:cNvSpPr/>
            <p:nvPr/>
          </p:nvSpPr>
          <p:spPr>
            <a:xfrm>
              <a:off x="0" y="0"/>
              <a:ext cx="20875625" cy="642366"/>
            </a:xfrm>
            <a:custGeom>
              <a:avLst/>
              <a:gdLst/>
              <a:ahLst/>
              <a:cxnLst/>
              <a:rect l="l" t="t" r="r" b="b"/>
              <a:pathLst>
                <a:path w="20875625" h="642366">
                  <a:moveTo>
                    <a:pt x="0" y="0"/>
                  </a:moveTo>
                  <a:lnTo>
                    <a:pt x="20875625" y="0"/>
                  </a:lnTo>
                  <a:lnTo>
                    <a:pt x="20875625" y="642366"/>
                  </a:lnTo>
                  <a:lnTo>
                    <a:pt x="0" y="642366"/>
                  </a:lnTo>
                  <a:lnTo>
                    <a:pt x="0" y="0"/>
                  </a:lnTo>
                  <a:close/>
                </a:path>
              </a:pathLst>
            </a:custGeom>
            <a:blipFill>
              <a:blip r:embed="rId4"/>
              <a:stretch>
                <a:fillRect b="5"/>
              </a:stretch>
            </a:blipFill>
          </p:spPr>
        </p:sp>
      </p:grpSp>
      <p:grpSp>
        <p:nvGrpSpPr>
          <p:cNvPr id="7" name="Group 7"/>
          <p:cNvGrpSpPr/>
          <p:nvPr/>
        </p:nvGrpSpPr>
        <p:grpSpPr>
          <a:xfrm>
            <a:off x="15878737" y="2956855"/>
            <a:ext cx="2404491" cy="216408"/>
            <a:chOff x="0" y="0"/>
            <a:chExt cx="3205988" cy="288544"/>
          </a:xfrm>
        </p:grpSpPr>
        <p:sp>
          <p:nvSpPr>
            <p:cNvPr id="8" name="Freeform 8" descr="HD-ShadowShort.png"/>
            <p:cNvSpPr/>
            <p:nvPr/>
          </p:nvSpPr>
          <p:spPr>
            <a:xfrm>
              <a:off x="0" y="0"/>
              <a:ext cx="3205988" cy="288544"/>
            </a:xfrm>
            <a:custGeom>
              <a:avLst/>
              <a:gdLst/>
              <a:ahLst/>
              <a:cxnLst/>
              <a:rect l="l" t="t" r="r" b="b"/>
              <a:pathLst>
                <a:path w="3205988" h="288544">
                  <a:moveTo>
                    <a:pt x="0" y="0"/>
                  </a:moveTo>
                  <a:lnTo>
                    <a:pt x="3205988" y="0"/>
                  </a:lnTo>
                  <a:lnTo>
                    <a:pt x="3205988" y="288544"/>
                  </a:lnTo>
                  <a:lnTo>
                    <a:pt x="0" y="288544"/>
                  </a:lnTo>
                  <a:lnTo>
                    <a:pt x="0" y="0"/>
                  </a:lnTo>
                  <a:close/>
                </a:path>
              </a:pathLst>
            </a:custGeom>
            <a:blipFill>
              <a:blip r:embed="rId5"/>
              <a:stretch>
                <a:fillRect/>
              </a:stretch>
            </a:blipFill>
          </p:spPr>
        </p:sp>
      </p:grpSp>
      <p:grpSp>
        <p:nvGrpSpPr>
          <p:cNvPr id="9" name="Group 9"/>
          <p:cNvGrpSpPr/>
          <p:nvPr/>
        </p:nvGrpSpPr>
        <p:grpSpPr>
          <a:xfrm>
            <a:off x="0" y="914400"/>
            <a:ext cx="15656719" cy="2052295"/>
            <a:chOff x="0" y="0"/>
            <a:chExt cx="20875625" cy="2736393"/>
          </a:xfrm>
        </p:grpSpPr>
        <p:sp>
          <p:nvSpPr>
            <p:cNvPr id="10" name="Freeform 10"/>
            <p:cNvSpPr/>
            <p:nvPr/>
          </p:nvSpPr>
          <p:spPr>
            <a:xfrm>
              <a:off x="0" y="0"/>
              <a:ext cx="20875625" cy="2736342"/>
            </a:xfrm>
            <a:custGeom>
              <a:avLst/>
              <a:gdLst/>
              <a:ahLst/>
              <a:cxnLst/>
              <a:rect l="l" t="t" r="r" b="b"/>
              <a:pathLst>
                <a:path w="20875625" h="2736342">
                  <a:moveTo>
                    <a:pt x="0" y="0"/>
                  </a:moveTo>
                  <a:lnTo>
                    <a:pt x="20875625" y="0"/>
                  </a:lnTo>
                  <a:lnTo>
                    <a:pt x="20875625" y="2736342"/>
                  </a:lnTo>
                  <a:lnTo>
                    <a:pt x="0" y="2736342"/>
                  </a:lnTo>
                  <a:close/>
                </a:path>
              </a:pathLst>
            </a:custGeom>
            <a:solidFill>
              <a:srgbClr val="262626"/>
            </a:solidFill>
          </p:spPr>
        </p:sp>
      </p:grpSp>
      <p:grpSp>
        <p:nvGrpSpPr>
          <p:cNvPr id="11" name="Group 11"/>
          <p:cNvGrpSpPr/>
          <p:nvPr/>
        </p:nvGrpSpPr>
        <p:grpSpPr>
          <a:xfrm>
            <a:off x="15878737" y="914400"/>
            <a:ext cx="2404491" cy="2052295"/>
            <a:chOff x="0" y="0"/>
            <a:chExt cx="3205988" cy="2736393"/>
          </a:xfrm>
        </p:grpSpPr>
        <p:sp>
          <p:nvSpPr>
            <p:cNvPr id="12" name="Freeform 12"/>
            <p:cNvSpPr/>
            <p:nvPr/>
          </p:nvSpPr>
          <p:spPr>
            <a:xfrm>
              <a:off x="0" y="0"/>
              <a:ext cx="3205988" cy="2736342"/>
            </a:xfrm>
            <a:custGeom>
              <a:avLst/>
              <a:gdLst/>
              <a:ahLst/>
              <a:cxnLst/>
              <a:rect l="l" t="t" r="r" b="b"/>
              <a:pathLst>
                <a:path w="3205988" h="2736342">
                  <a:moveTo>
                    <a:pt x="0" y="0"/>
                  </a:moveTo>
                  <a:lnTo>
                    <a:pt x="3205988" y="0"/>
                  </a:lnTo>
                  <a:lnTo>
                    <a:pt x="3205988" y="2736342"/>
                  </a:lnTo>
                  <a:lnTo>
                    <a:pt x="0" y="2736342"/>
                  </a:lnTo>
                  <a:close/>
                </a:path>
              </a:pathLst>
            </a:custGeom>
            <a:solidFill>
              <a:srgbClr val="A7D535"/>
            </a:solidFill>
          </p:spPr>
        </p:sp>
      </p:grpSp>
      <p:grpSp>
        <p:nvGrpSpPr>
          <p:cNvPr id="13" name="Group 13"/>
          <p:cNvGrpSpPr/>
          <p:nvPr/>
        </p:nvGrpSpPr>
        <p:grpSpPr>
          <a:xfrm>
            <a:off x="1020480" y="1129846"/>
            <a:ext cx="14420793" cy="1621403"/>
            <a:chOff x="0" y="0"/>
            <a:chExt cx="19227724" cy="2161870"/>
          </a:xfrm>
        </p:grpSpPr>
        <p:sp>
          <p:nvSpPr>
            <p:cNvPr id="14" name="Freeform 14"/>
            <p:cNvSpPr/>
            <p:nvPr/>
          </p:nvSpPr>
          <p:spPr>
            <a:xfrm>
              <a:off x="0" y="0"/>
              <a:ext cx="19227722" cy="2161876"/>
            </a:xfrm>
            <a:custGeom>
              <a:avLst/>
              <a:gdLst/>
              <a:ahLst/>
              <a:cxnLst/>
              <a:rect l="l" t="t" r="r" b="b"/>
              <a:pathLst>
                <a:path w="19227722" h="2161876">
                  <a:moveTo>
                    <a:pt x="0" y="0"/>
                  </a:moveTo>
                  <a:lnTo>
                    <a:pt x="19227722" y="0"/>
                  </a:lnTo>
                  <a:lnTo>
                    <a:pt x="19227722" y="2161876"/>
                  </a:lnTo>
                  <a:lnTo>
                    <a:pt x="0" y="2161876"/>
                  </a:lnTo>
                  <a:close/>
                </a:path>
              </a:pathLst>
            </a:custGeom>
            <a:blipFill>
              <a:blip r:embed="rId6">
                <a:alphaModFix amt="0"/>
              </a:blip>
              <a:stretch>
                <a:fillRect t="-123300" b="-123299"/>
              </a:stretch>
            </a:blipFill>
          </p:spPr>
        </p:sp>
        <p:sp>
          <p:nvSpPr>
            <p:cNvPr id="15" name="TextBox 15"/>
            <p:cNvSpPr txBox="1"/>
            <p:nvPr/>
          </p:nvSpPr>
          <p:spPr>
            <a:xfrm>
              <a:off x="0" y="28575"/>
              <a:ext cx="19227724" cy="2133295"/>
            </a:xfrm>
            <a:prstGeom prst="rect">
              <a:avLst/>
            </a:prstGeom>
          </p:spPr>
          <p:txBody>
            <a:bodyPr lIns="0" tIns="0" rIns="0" bIns="0" rtlCol="0" anchor="ctr"/>
            <a:lstStyle/>
            <a:p>
              <a:pPr algn="l">
                <a:lnSpc>
                  <a:spcPts val="5830"/>
                </a:lnSpc>
              </a:pPr>
              <a:endParaRPr lang="en-US" sz="5400" dirty="0">
                <a:solidFill>
                  <a:srgbClr val="FFFFFF"/>
                </a:solidFill>
                <a:latin typeface="Arial" panose="020B0604020202020204"/>
                <a:ea typeface="Arial" panose="020B0604020202020204"/>
                <a:cs typeface="Arial" panose="020B0604020202020204"/>
                <a:sym typeface="Arial" panose="020B0604020202020204"/>
              </a:endParaRPr>
            </a:p>
          </p:txBody>
        </p:sp>
      </p:grpSp>
      <p:grpSp>
        <p:nvGrpSpPr>
          <p:cNvPr id="16" name="Group 16"/>
          <p:cNvGrpSpPr/>
          <p:nvPr/>
        </p:nvGrpSpPr>
        <p:grpSpPr>
          <a:xfrm>
            <a:off x="15849590" y="1645910"/>
            <a:ext cx="2401291" cy="2371973"/>
            <a:chOff x="0" y="0"/>
            <a:chExt cx="3201721" cy="3162630"/>
          </a:xfrm>
        </p:grpSpPr>
        <p:sp>
          <p:nvSpPr>
            <p:cNvPr id="17" name="Freeform 17"/>
            <p:cNvSpPr/>
            <p:nvPr/>
          </p:nvSpPr>
          <p:spPr>
            <a:xfrm>
              <a:off x="0" y="0"/>
              <a:ext cx="3201670" cy="3162681"/>
            </a:xfrm>
            <a:custGeom>
              <a:avLst/>
              <a:gdLst/>
              <a:ahLst/>
              <a:cxnLst/>
              <a:rect l="l" t="t" r="r" b="b"/>
              <a:pathLst>
                <a:path w="3201670" h="3162681">
                  <a:moveTo>
                    <a:pt x="0" y="0"/>
                  </a:moveTo>
                  <a:lnTo>
                    <a:pt x="3201670" y="0"/>
                  </a:lnTo>
                  <a:lnTo>
                    <a:pt x="3201670" y="3162681"/>
                  </a:lnTo>
                  <a:lnTo>
                    <a:pt x="0" y="3162681"/>
                  </a:lnTo>
                  <a:lnTo>
                    <a:pt x="0" y="0"/>
                  </a:lnTo>
                  <a:close/>
                </a:path>
              </a:pathLst>
            </a:custGeom>
            <a:blipFill>
              <a:blip r:embed="rId7"/>
              <a:stretch>
                <a:fillRect r="-1" b="1"/>
              </a:stretch>
            </a:blipFill>
          </p:spPr>
        </p:sp>
      </p:grpSp>
      <p:grpSp>
        <p:nvGrpSpPr>
          <p:cNvPr id="18" name="Group 18"/>
          <p:cNvGrpSpPr/>
          <p:nvPr/>
        </p:nvGrpSpPr>
        <p:grpSpPr>
          <a:xfrm>
            <a:off x="13496011" y="80610"/>
            <a:ext cx="2743400" cy="2743400"/>
            <a:chOff x="0" y="0"/>
            <a:chExt cx="3657867" cy="3657867"/>
          </a:xfrm>
        </p:grpSpPr>
        <p:sp>
          <p:nvSpPr>
            <p:cNvPr id="19" name="Freeform 19"/>
            <p:cNvSpPr/>
            <p:nvPr/>
          </p:nvSpPr>
          <p:spPr>
            <a:xfrm>
              <a:off x="0" y="0"/>
              <a:ext cx="3657854" cy="3657854"/>
            </a:xfrm>
            <a:custGeom>
              <a:avLst/>
              <a:gdLst/>
              <a:ahLst/>
              <a:cxnLst/>
              <a:rect l="l" t="t" r="r" b="b"/>
              <a:pathLst>
                <a:path w="3657854" h="3657854">
                  <a:moveTo>
                    <a:pt x="0" y="0"/>
                  </a:moveTo>
                  <a:lnTo>
                    <a:pt x="3657854" y="0"/>
                  </a:lnTo>
                  <a:lnTo>
                    <a:pt x="3657854" y="3657854"/>
                  </a:lnTo>
                  <a:lnTo>
                    <a:pt x="0" y="3657854"/>
                  </a:lnTo>
                  <a:lnTo>
                    <a:pt x="0" y="0"/>
                  </a:lnTo>
                  <a:close/>
                </a:path>
              </a:pathLst>
            </a:custGeom>
            <a:blipFill>
              <a:blip r:embed="rId8"/>
              <a:stretch>
                <a:fillRect/>
              </a:stretch>
            </a:blipFill>
          </p:spPr>
        </p:sp>
      </p:grpSp>
      <p:sp>
        <p:nvSpPr>
          <p:cNvPr id="20" name="TextBox 20"/>
          <p:cNvSpPr txBox="1"/>
          <p:nvPr/>
        </p:nvSpPr>
        <p:spPr>
          <a:xfrm>
            <a:off x="381000" y="2726503"/>
            <a:ext cx="15858401" cy="8749446"/>
          </a:xfrm>
          <a:prstGeom prst="rect">
            <a:avLst/>
          </a:prstGeom>
        </p:spPr>
        <p:txBody>
          <a:bodyPr wrap="square" lIns="0" tIns="0" rIns="0" bIns="0" rtlCol="0" anchor="t">
            <a:spAutoFit/>
          </a:bodyPr>
          <a:lstStyle/>
          <a:p>
            <a:pPr lvl="0" algn="just" fontAlgn="base">
              <a:lnSpc>
                <a:spcPct val="150000"/>
              </a:lnSpc>
            </a:pPr>
            <a:r>
              <a:rPr lang="en-US" sz="4800" b="1" dirty="0"/>
              <a:t>System Name</a:t>
            </a:r>
            <a:r>
              <a:rPr lang="en-US" sz="4800" dirty="0"/>
              <a:t> – </a:t>
            </a:r>
            <a:r>
              <a:rPr lang="en-US" sz="4800" dirty="0" err="1"/>
              <a:t>CommuniFund</a:t>
            </a:r>
            <a:r>
              <a:rPr lang="en-US" sz="4800" dirty="0"/>
              <a:t> Assistance System ​</a:t>
            </a:r>
          </a:p>
          <a:p>
            <a:pPr lvl="0" algn="just" fontAlgn="base">
              <a:lnSpc>
                <a:spcPct val="150000"/>
              </a:lnSpc>
            </a:pPr>
            <a:r>
              <a:rPr lang="en-US" sz="4800" b="1" dirty="0"/>
              <a:t>Organization</a:t>
            </a:r>
            <a:r>
              <a:rPr lang="en-US" sz="4800" dirty="0"/>
              <a:t> – Designed for the Support Services Facilitators Office(SSFO). ​</a:t>
            </a:r>
          </a:p>
          <a:p>
            <a:pPr lvl="0" algn="just" fontAlgn="base">
              <a:lnSpc>
                <a:spcPct val="150000"/>
              </a:lnSpc>
            </a:pPr>
            <a:r>
              <a:rPr lang="en-US" sz="4800" b="1" dirty="0"/>
              <a:t>Platform</a:t>
            </a:r>
            <a:r>
              <a:rPr lang="en-US" sz="4800" dirty="0"/>
              <a:t> – A web-based system accessible through an internet-connected device. ​</a:t>
            </a:r>
          </a:p>
          <a:p>
            <a:pPr lvl="0" algn="just" fontAlgn="base">
              <a:lnSpc>
                <a:spcPct val="150000"/>
              </a:lnSpc>
            </a:pPr>
            <a:r>
              <a:rPr lang="en-US" sz="4800" b="1" dirty="0"/>
              <a:t>Main Function</a:t>
            </a:r>
            <a:r>
              <a:rPr lang="en-US" sz="4800" dirty="0"/>
              <a:t> – Digitizes the recording, processing, monitoring, and management of client assistance requests. ​</a:t>
            </a:r>
          </a:p>
          <a:p>
            <a:pPr lvl="0" algn="just" fontAlgn="base">
              <a:lnSpc>
                <a:spcPct val="150000"/>
              </a:lnSpc>
            </a:pPr>
            <a:r>
              <a:rPr lang="en-US" sz="4800" dirty="0"/>
              <a:t>​</a:t>
            </a:r>
          </a:p>
        </p:txBody>
      </p:sp>
      <p:sp>
        <p:nvSpPr>
          <p:cNvPr id="24" name="TextBox 23">
            <a:extLst>
              <a:ext uri="{FF2B5EF4-FFF2-40B4-BE49-F238E27FC236}">
                <a16:creationId xmlns:a16="http://schemas.microsoft.com/office/drawing/2014/main" id="{DE8C1821-BDFD-CF5F-985C-F942C47DA4D2}"/>
              </a:ext>
            </a:extLst>
          </p:cNvPr>
          <p:cNvSpPr txBox="1"/>
          <p:nvPr/>
        </p:nvSpPr>
        <p:spPr>
          <a:xfrm>
            <a:off x="39715" y="1533929"/>
            <a:ext cx="13453910" cy="769441"/>
          </a:xfrm>
          <a:prstGeom prst="rect">
            <a:avLst/>
          </a:prstGeom>
          <a:noFill/>
        </p:spPr>
        <p:txBody>
          <a:bodyPr wrap="square">
            <a:spAutoFit/>
          </a:bodyPr>
          <a:lstStyle/>
          <a:p>
            <a:pPr fontAlgn="base"/>
            <a:r>
              <a:rPr lang="en-US" sz="4400" b="1" dirty="0">
                <a:solidFill>
                  <a:schemeClr val="bg1"/>
                </a:solidFill>
              </a:rPr>
              <a:t>Web-Based Assistance Request and Management System</a:t>
            </a:r>
            <a:r>
              <a:rPr lang="en-US" sz="4400" dirty="0">
                <a:solidFill>
                  <a:schemeClr val="bg1"/>
                </a:solidFil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0"/>
            <a:ext cx="18288000" cy="10287000"/>
            <a:chOff x="0" y="0"/>
            <a:chExt cx="24384000" cy="13716000"/>
          </a:xfrm>
        </p:grpSpPr>
        <p:sp>
          <p:nvSpPr>
            <p:cNvPr id="4" name="Freeform 4" descr="hashOverlay-FullResolv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alphaModFix amt="9999"/>
              </a:blip>
              <a:stretch>
                <a:fillRect/>
              </a:stretch>
            </a:blipFill>
          </p:spPr>
        </p:sp>
      </p:grpSp>
      <p:grpSp>
        <p:nvGrpSpPr>
          <p:cNvPr id="5" name="Group 5"/>
          <p:cNvGrpSpPr/>
          <p:nvPr/>
        </p:nvGrpSpPr>
        <p:grpSpPr>
          <a:xfrm>
            <a:off x="1" y="2955360"/>
            <a:ext cx="15656719" cy="481746"/>
            <a:chOff x="0" y="0"/>
            <a:chExt cx="20875625" cy="642328"/>
          </a:xfrm>
        </p:grpSpPr>
        <p:sp>
          <p:nvSpPr>
            <p:cNvPr id="6" name="Freeform 6" descr="HD-ShadowLong.png"/>
            <p:cNvSpPr/>
            <p:nvPr/>
          </p:nvSpPr>
          <p:spPr>
            <a:xfrm>
              <a:off x="0" y="0"/>
              <a:ext cx="20875625" cy="642366"/>
            </a:xfrm>
            <a:custGeom>
              <a:avLst/>
              <a:gdLst/>
              <a:ahLst/>
              <a:cxnLst/>
              <a:rect l="l" t="t" r="r" b="b"/>
              <a:pathLst>
                <a:path w="20875625" h="642366">
                  <a:moveTo>
                    <a:pt x="0" y="0"/>
                  </a:moveTo>
                  <a:lnTo>
                    <a:pt x="20875625" y="0"/>
                  </a:lnTo>
                  <a:lnTo>
                    <a:pt x="20875625" y="642366"/>
                  </a:lnTo>
                  <a:lnTo>
                    <a:pt x="0" y="642366"/>
                  </a:lnTo>
                  <a:lnTo>
                    <a:pt x="0" y="0"/>
                  </a:lnTo>
                  <a:close/>
                </a:path>
              </a:pathLst>
            </a:custGeom>
            <a:blipFill>
              <a:blip r:embed="rId4"/>
              <a:stretch>
                <a:fillRect b="5"/>
              </a:stretch>
            </a:blipFill>
          </p:spPr>
        </p:sp>
      </p:grpSp>
      <p:grpSp>
        <p:nvGrpSpPr>
          <p:cNvPr id="7" name="Group 7"/>
          <p:cNvGrpSpPr/>
          <p:nvPr/>
        </p:nvGrpSpPr>
        <p:grpSpPr>
          <a:xfrm>
            <a:off x="15878737" y="2956855"/>
            <a:ext cx="2404491" cy="216408"/>
            <a:chOff x="0" y="0"/>
            <a:chExt cx="3205988" cy="288544"/>
          </a:xfrm>
        </p:grpSpPr>
        <p:sp>
          <p:nvSpPr>
            <p:cNvPr id="8" name="Freeform 8" descr="HD-ShadowShort.png"/>
            <p:cNvSpPr/>
            <p:nvPr/>
          </p:nvSpPr>
          <p:spPr>
            <a:xfrm>
              <a:off x="0" y="0"/>
              <a:ext cx="3205988" cy="288544"/>
            </a:xfrm>
            <a:custGeom>
              <a:avLst/>
              <a:gdLst/>
              <a:ahLst/>
              <a:cxnLst/>
              <a:rect l="l" t="t" r="r" b="b"/>
              <a:pathLst>
                <a:path w="3205988" h="288544">
                  <a:moveTo>
                    <a:pt x="0" y="0"/>
                  </a:moveTo>
                  <a:lnTo>
                    <a:pt x="3205988" y="0"/>
                  </a:lnTo>
                  <a:lnTo>
                    <a:pt x="3205988" y="288544"/>
                  </a:lnTo>
                  <a:lnTo>
                    <a:pt x="0" y="288544"/>
                  </a:lnTo>
                  <a:lnTo>
                    <a:pt x="0" y="0"/>
                  </a:lnTo>
                  <a:close/>
                </a:path>
              </a:pathLst>
            </a:custGeom>
            <a:blipFill>
              <a:blip r:embed="rId5"/>
              <a:stretch>
                <a:fillRect/>
              </a:stretch>
            </a:blipFill>
          </p:spPr>
        </p:sp>
      </p:grpSp>
      <p:grpSp>
        <p:nvGrpSpPr>
          <p:cNvPr id="9" name="Group 9"/>
          <p:cNvGrpSpPr/>
          <p:nvPr/>
        </p:nvGrpSpPr>
        <p:grpSpPr>
          <a:xfrm>
            <a:off x="0" y="914400"/>
            <a:ext cx="15656719" cy="2052295"/>
            <a:chOff x="0" y="0"/>
            <a:chExt cx="20875625" cy="2736393"/>
          </a:xfrm>
        </p:grpSpPr>
        <p:sp>
          <p:nvSpPr>
            <p:cNvPr id="10" name="Freeform 10"/>
            <p:cNvSpPr/>
            <p:nvPr/>
          </p:nvSpPr>
          <p:spPr>
            <a:xfrm>
              <a:off x="0" y="0"/>
              <a:ext cx="20875625" cy="2736342"/>
            </a:xfrm>
            <a:custGeom>
              <a:avLst/>
              <a:gdLst/>
              <a:ahLst/>
              <a:cxnLst/>
              <a:rect l="l" t="t" r="r" b="b"/>
              <a:pathLst>
                <a:path w="20875625" h="2736342">
                  <a:moveTo>
                    <a:pt x="0" y="0"/>
                  </a:moveTo>
                  <a:lnTo>
                    <a:pt x="20875625" y="0"/>
                  </a:lnTo>
                  <a:lnTo>
                    <a:pt x="20875625" y="2736342"/>
                  </a:lnTo>
                  <a:lnTo>
                    <a:pt x="0" y="2736342"/>
                  </a:lnTo>
                  <a:close/>
                </a:path>
              </a:pathLst>
            </a:custGeom>
            <a:solidFill>
              <a:srgbClr val="262626"/>
            </a:solidFill>
          </p:spPr>
        </p:sp>
      </p:grpSp>
      <p:grpSp>
        <p:nvGrpSpPr>
          <p:cNvPr id="11" name="Group 11"/>
          <p:cNvGrpSpPr/>
          <p:nvPr/>
        </p:nvGrpSpPr>
        <p:grpSpPr>
          <a:xfrm>
            <a:off x="15878737" y="914400"/>
            <a:ext cx="2404491" cy="2052295"/>
            <a:chOff x="0" y="0"/>
            <a:chExt cx="3205988" cy="2736393"/>
          </a:xfrm>
        </p:grpSpPr>
        <p:sp>
          <p:nvSpPr>
            <p:cNvPr id="12" name="Freeform 12"/>
            <p:cNvSpPr/>
            <p:nvPr/>
          </p:nvSpPr>
          <p:spPr>
            <a:xfrm>
              <a:off x="0" y="0"/>
              <a:ext cx="3205988" cy="2736342"/>
            </a:xfrm>
            <a:custGeom>
              <a:avLst/>
              <a:gdLst/>
              <a:ahLst/>
              <a:cxnLst/>
              <a:rect l="l" t="t" r="r" b="b"/>
              <a:pathLst>
                <a:path w="3205988" h="2736342">
                  <a:moveTo>
                    <a:pt x="0" y="0"/>
                  </a:moveTo>
                  <a:lnTo>
                    <a:pt x="3205988" y="0"/>
                  </a:lnTo>
                  <a:lnTo>
                    <a:pt x="3205988" y="2736342"/>
                  </a:lnTo>
                  <a:lnTo>
                    <a:pt x="0" y="2736342"/>
                  </a:lnTo>
                  <a:close/>
                </a:path>
              </a:pathLst>
            </a:custGeom>
            <a:solidFill>
              <a:srgbClr val="A7D535"/>
            </a:solidFill>
          </p:spPr>
        </p:sp>
      </p:grpSp>
      <p:grpSp>
        <p:nvGrpSpPr>
          <p:cNvPr id="13" name="Group 13"/>
          <p:cNvGrpSpPr/>
          <p:nvPr/>
        </p:nvGrpSpPr>
        <p:grpSpPr>
          <a:xfrm>
            <a:off x="1020480" y="1129846"/>
            <a:ext cx="14420793" cy="1621403"/>
            <a:chOff x="0" y="0"/>
            <a:chExt cx="19227724" cy="2161870"/>
          </a:xfrm>
        </p:grpSpPr>
        <p:sp>
          <p:nvSpPr>
            <p:cNvPr id="14" name="Freeform 14"/>
            <p:cNvSpPr/>
            <p:nvPr/>
          </p:nvSpPr>
          <p:spPr>
            <a:xfrm>
              <a:off x="0" y="0"/>
              <a:ext cx="19227722" cy="2161876"/>
            </a:xfrm>
            <a:custGeom>
              <a:avLst/>
              <a:gdLst/>
              <a:ahLst/>
              <a:cxnLst/>
              <a:rect l="l" t="t" r="r" b="b"/>
              <a:pathLst>
                <a:path w="19227722" h="2161876">
                  <a:moveTo>
                    <a:pt x="0" y="0"/>
                  </a:moveTo>
                  <a:lnTo>
                    <a:pt x="19227722" y="0"/>
                  </a:lnTo>
                  <a:lnTo>
                    <a:pt x="19227722" y="2161876"/>
                  </a:lnTo>
                  <a:lnTo>
                    <a:pt x="0" y="2161876"/>
                  </a:lnTo>
                  <a:close/>
                </a:path>
              </a:pathLst>
            </a:custGeom>
            <a:blipFill>
              <a:blip r:embed="rId6">
                <a:alphaModFix amt="0"/>
              </a:blip>
              <a:stretch>
                <a:fillRect t="-123300" b="-123299"/>
              </a:stretch>
            </a:blipFill>
          </p:spPr>
        </p:sp>
        <p:sp>
          <p:nvSpPr>
            <p:cNvPr id="15" name="TextBox 15"/>
            <p:cNvSpPr txBox="1"/>
            <p:nvPr/>
          </p:nvSpPr>
          <p:spPr>
            <a:xfrm>
              <a:off x="0" y="28575"/>
              <a:ext cx="19227724" cy="2133295"/>
            </a:xfrm>
            <a:prstGeom prst="rect">
              <a:avLst/>
            </a:prstGeom>
          </p:spPr>
          <p:txBody>
            <a:bodyPr lIns="0" tIns="0" rIns="0" bIns="0" rtlCol="0" anchor="ctr"/>
            <a:lstStyle/>
            <a:p>
              <a:pPr algn="l">
                <a:lnSpc>
                  <a:spcPts val="5830"/>
                </a:lnSpc>
              </a:pPr>
              <a:r>
                <a:rPr lang="en-US" sz="5400" dirty="0">
                  <a:solidFill>
                    <a:srgbClr val="FFFFFF"/>
                  </a:solidFill>
                  <a:latin typeface="Arial" panose="020B0604020202020204"/>
                  <a:ea typeface="Arial" panose="020B0604020202020204"/>
                  <a:cs typeface="Arial" panose="020B0604020202020204"/>
                  <a:sym typeface="Arial" panose="020B0604020202020204"/>
                </a:rPr>
                <a:t>System Overview</a:t>
              </a:r>
            </a:p>
          </p:txBody>
        </p:sp>
      </p:grpSp>
      <p:grpSp>
        <p:nvGrpSpPr>
          <p:cNvPr id="16" name="Group 16"/>
          <p:cNvGrpSpPr/>
          <p:nvPr/>
        </p:nvGrpSpPr>
        <p:grpSpPr>
          <a:xfrm>
            <a:off x="15835160" y="1630899"/>
            <a:ext cx="2401291" cy="2371973"/>
            <a:chOff x="0" y="0"/>
            <a:chExt cx="3201721" cy="3162630"/>
          </a:xfrm>
        </p:grpSpPr>
        <p:sp>
          <p:nvSpPr>
            <p:cNvPr id="17" name="Freeform 17"/>
            <p:cNvSpPr/>
            <p:nvPr/>
          </p:nvSpPr>
          <p:spPr>
            <a:xfrm>
              <a:off x="0" y="0"/>
              <a:ext cx="3201670" cy="3162681"/>
            </a:xfrm>
            <a:custGeom>
              <a:avLst/>
              <a:gdLst/>
              <a:ahLst/>
              <a:cxnLst/>
              <a:rect l="l" t="t" r="r" b="b"/>
              <a:pathLst>
                <a:path w="3201670" h="3162681">
                  <a:moveTo>
                    <a:pt x="0" y="0"/>
                  </a:moveTo>
                  <a:lnTo>
                    <a:pt x="3201670" y="0"/>
                  </a:lnTo>
                  <a:lnTo>
                    <a:pt x="3201670" y="3162681"/>
                  </a:lnTo>
                  <a:lnTo>
                    <a:pt x="0" y="3162681"/>
                  </a:lnTo>
                  <a:lnTo>
                    <a:pt x="0" y="0"/>
                  </a:lnTo>
                  <a:close/>
                </a:path>
              </a:pathLst>
            </a:custGeom>
            <a:blipFill>
              <a:blip r:embed="rId7"/>
              <a:stretch>
                <a:fillRect r="-1" b="1"/>
              </a:stretch>
            </a:blipFill>
          </p:spPr>
        </p:sp>
      </p:grpSp>
      <p:grpSp>
        <p:nvGrpSpPr>
          <p:cNvPr id="18" name="Group 18"/>
          <p:cNvGrpSpPr/>
          <p:nvPr/>
        </p:nvGrpSpPr>
        <p:grpSpPr>
          <a:xfrm>
            <a:off x="13481580" y="65599"/>
            <a:ext cx="2743400" cy="2743400"/>
            <a:chOff x="0" y="0"/>
            <a:chExt cx="3657867" cy="3657867"/>
          </a:xfrm>
        </p:grpSpPr>
        <p:sp>
          <p:nvSpPr>
            <p:cNvPr id="19" name="Freeform 19"/>
            <p:cNvSpPr/>
            <p:nvPr/>
          </p:nvSpPr>
          <p:spPr>
            <a:xfrm>
              <a:off x="0" y="0"/>
              <a:ext cx="3657854" cy="3657854"/>
            </a:xfrm>
            <a:custGeom>
              <a:avLst/>
              <a:gdLst/>
              <a:ahLst/>
              <a:cxnLst/>
              <a:rect l="l" t="t" r="r" b="b"/>
              <a:pathLst>
                <a:path w="3657854" h="3657854">
                  <a:moveTo>
                    <a:pt x="0" y="0"/>
                  </a:moveTo>
                  <a:lnTo>
                    <a:pt x="3657854" y="0"/>
                  </a:lnTo>
                  <a:lnTo>
                    <a:pt x="3657854" y="3657854"/>
                  </a:lnTo>
                  <a:lnTo>
                    <a:pt x="0" y="3657854"/>
                  </a:lnTo>
                  <a:lnTo>
                    <a:pt x="0" y="0"/>
                  </a:lnTo>
                  <a:close/>
                </a:path>
              </a:pathLst>
            </a:custGeom>
            <a:blipFill>
              <a:blip r:embed="rId8"/>
              <a:stretch>
                <a:fillRect/>
              </a:stretch>
            </a:blipFill>
          </p:spPr>
        </p:sp>
      </p:grpSp>
      <p:sp>
        <p:nvSpPr>
          <p:cNvPr id="20" name="TextBox 20"/>
          <p:cNvSpPr txBox="1"/>
          <p:nvPr/>
        </p:nvSpPr>
        <p:spPr>
          <a:xfrm>
            <a:off x="178442" y="2816904"/>
            <a:ext cx="15656718" cy="7881453"/>
          </a:xfrm>
          <a:prstGeom prst="rect">
            <a:avLst/>
          </a:prstGeom>
        </p:spPr>
        <p:txBody>
          <a:bodyPr wrap="square" lIns="0" tIns="0" rIns="0" bIns="0" rtlCol="0" anchor="t">
            <a:spAutoFit/>
          </a:bodyPr>
          <a:lstStyle/>
          <a:p>
            <a:pPr lvl="0" algn="just" fontAlgn="base">
              <a:lnSpc>
                <a:spcPct val="150000"/>
              </a:lnSpc>
            </a:pPr>
            <a:r>
              <a:rPr lang="en-US" sz="3450" b="1" dirty="0"/>
              <a:t>Client Portal</a:t>
            </a:r>
            <a:r>
              <a:rPr lang="en-US" sz="3450" dirty="0"/>
              <a:t> – Allows clients to submit assistance requests and upload supporting documents. ​</a:t>
            </a:r>
          </a:p>
          <a:p>
            <a:pPr lvl="0" algn="just" fontAlgn="base">
              <a:lnSpc>
                <a:spcPct val="150000"/>
              </a:lnSpc>
            </a:pPr>
            <a:r>
              <a:rPr lang="en-US" sz="3450" b="1" dirty="0"/>
              <a:t>Request Tracking</a:t>
            </a:r>
            <a:r>
              <a:rPr lang="en-US" sz="3450" dirty="0"/>
              <a:t> – Allows clients to monitor the current status of their submitted requests. ​</a:t>
            </a:r>
          </a:p>
          <a:p>
            <a:pPr lvl="0" algn="just" fontAlgn="base">
              <a:lnSpc>
                <a:spcPct val="150000"/>
              </a:lnSpc>
            </a:pPr>
            <a:r>
              <a:rPr lang="en-US" sz="3450" b="1" dirty="0"/>
              <a:t>Administrative Portal</a:t>
            </a:r>
            <a:r>
              <a:rPr lang="en-US" sz="3450" dirty="0"/>
              <a:t> – Enables SSFO staff to review, update, approve, or reject requests. ​</a:t>
            </a:r>
          </a:p>
          <a:p>
            <a:pPr lvl="0" algn="just" fontAlgn="base">
              <a:lnSpc>
                <a:spcPct val="150000"/>
              </a:lnSpc>
            </a:pPr>
            <a:r>
              <a:rPr lang="en-US" sz="3450" b="1" dirty="0"/>
              <a:t>Centralized Records</a:t>
            </a:r>
            <a:r>
              <a:rPr lang="en-US" sz="3450" dirty="0"/>
              <a:t> – Keeps client and request information organized in one database. ​</a:t>
            </a:r>
          </a:p>
          <a:p>
            <a:pPr lvl="0" algn="just" fontAlgn="base">
              <a:lnSpc>
                <a:spcPct val="150000"/>
              </a:lnSpc>
            </a:pPr>
            <a:r>
              <a:rPr lang="en-US" sz="3450" b="1" dirty="0"/>
              <a:t>Report Generation</a:t>
            </a:r>
            <a:r>
              <a:rPr lang="en-US" sz="3450" dirty="0"/>
              <a:t> – Allows administrators to generate reports from recorded requests. ​</a:t>
            </a:r>
          </a:p>
          <a:p>
            <a:pPr lvl="0" algn="just" fontAlgn="base">
              <a:lnSpc>
                <a:spcPct val="150000"/>
              </a:lnSpc>
            </a:pPr>
            <a:r>
              <a:rPr lang="en-US" sz="345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0"/>
            <a:ext cx="18288000" cy="10287000"/>
            <a:chOff x="0" y="0"/>
            <a:chExt cx="24384000" cy="13716000"/>
          </a:xfrm>
        </p:grpSpPr>
        <p:sp>
          <p:nvSpPr>
            <p:cNvPr id="4" name="Freeform 4" descr="hashOverlay-FullResolv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alphaModFix amt="9999"/>
              </a:blip>
              <a:stretch>
                <a:fillRect/>
              </a:stretch>
            </a:blipFill>
          </p:spPr>
        </p:sp>
      </p:grpSp>
      <p:grpSp>
        <p:nvGrpSpPr>
          <p:cNvPr id="5" name="Group 5"/>
          <p:cNvGrpSpPr/>
          <p:nvPr/>
        </p:nvGrpSpPr>
        <p:grpSpPr>
          <a:xfrm>
            <a:off x="1" y="2955360"/>
            <a:ext cx="15656719" cy="481746"/>
            <a:chOff x="0" y="0"/>
            <a:chExt cx="20875625" cy="642328"/>
          </a:xfrm>
        </p:grpSpPr>
        <p:sp>
          <p:nvSpPr>
            <p:cNvPr id="6" name="Freeform 6" descr="HD-ShadowLong.png"/>
            <p:cNvSpPr/>
            <p:nvPr/>
          </p:nvSpPr>
          <p:spPr>
            <a:xfrm>
              <a:off x="0" y="0"/>
              <a:ext cx="20875625" cy="642366"/>
            </a:xfrm>
            <a:custGeom>
              <a:avLst/>
              <a:gdLst/>
              <a:ahLst/>
              <a:cxnLst/>
              <a:rect l="l" t="t" r="r" b="b"/>
              <a:pathLst>
                <a:path w="20875625" h="642366">
                  <a:moveTo>
                    <a:pt x="0" y="0"/>
                  </a:moveTo>
                  <a:lnTo>
                    <a:pt x="20875625" y="0"/>
                  </a:lnTo>
                  <a:lnTo>
                    <a:pt x="20875625" y="642366"/>
                  </a:lnTo>
                  <a:lnTo>
                    <a:pt x="0" y="642366"/>
                  </a:lnTo>
                  <a:lnTo>
                    <a:pt x="0" y="0"/>
                  </a:lnTo>
                  <a:close/>
                </a:path>
              </a:pathLst>
            </a:custGeom>
            <a:blipFill>
              <a:blip r:embed="rId4"/>
              <a:stretch>
                <a:fillRect b="5"/>
              </a:stretch>
            </a:blipFill>
          </p:spPr>
        </p:sp>
      </p:grpSp>
      <p:grpSp>
        <p:nvGrpSpPr>
          <p:cNvPr id="7" name="Group 7"/>
          <p:cNvGrpSpPr/>
          <p:nvPr/>
        </p:nvGrpSpPr>
        <p:grpSpPr>
          <a:xfrm>
            <a:off x="15878737" y="2956855"/>
            <a:ext cx="2404491" cy="216408"/>
            <a:chOff x="0" y="0"/>
            <a:chExt cx="3205988" cy="288544"/>
          </a:xfrm>
        </p:grpSpPr>
        <p:sp>
          <p:nvSpPr>
            <p:cNvPr id="8" name="Freeform 8" descr="HD-ShadowShort.png"/>
            <p:cNvSpPr/>
            <p:nvPr/>
          </p:nvSpPr>
          <p:spPr>
            <a:xfrm>
              <a:off x="0" y="0"/>
              <a:ext cx="3205988" cy="288544"/>
            </a:xfrm>
            <a:custGeom>
              <a:avLst/>
              <a:gdLst/>
              <a:ahLst/>
              <a:cxnLst/>
              <a:rect l="l" t="t" r="r" b="b"/>
              <a:pathLst>
                <a:path w="3205988" h="288544">
                  <a:moveTo>
                    <a:pt x="0" y="0"/>
                  </a:moveTo>
                  <a:lnTo>
                    <a:pt x="3205988" y="0"/>
                  </a:lnTo>
                  <a:lnTo>
                    <a:pt x="3205988" y="288544"/>
                  </a:lnTo>
                  <a:lnTo>
                    <a:pt x="0" y="288544"/>
                  </a:lnTo>
                  <a:lnTo>
                    <a:pt x="0" y="0"/>
                  </a:lnTo>
                  <a:close/>
                </a:path>
              </a:pathLst>
            </a:custGeom>
            <a:blipFill>
              <a:blip r:embed="rId5"/>
              <a:stretch>
                <a:fillRect/>
              </a:stretch>
            </a:blipFill>
          </p:spPr>
        </p:sp>
      </p:grpSp>
      <p:grpSp>
        <p:nvGrpSpPr>
          <p:cNvPr id="9" name="Group 9"/>
          <p:cNvGrpSpPr/>
          <p:nvPr/>
        </p:nvGrpSpPr>
        <p:grpSpPr>
          <a:xfrm>
            <a:off x="0" y="914400"/>
            <a:ext cx="15656719" cy="2052295"/>
            <a:chOff x="0" y="0"/>
            <a:chExt cx="20875625" cy="2736393"/>
          </a:xfrm>
        </p:grpSpPr>
        <p:sp>
          <p:nvSpPr>
            <p:cNvPr id="10" name="Freeform 10"/>
            <p:cNvSpPr/>
            <p:nvPr/>
          </p:nvSpPr>
          <p:spPr>
            <a:xfrm>
              <a:off x="0" y="0"/>
              <a:ext cx="20875625" cy="2736342"/>
            </a:xfrm>
            <a:custGeom>
              <a:avLst/>
              <a:gdLst/>
              <a:ahLst/>
              <a:cxnLst/>
              <a:rect l="l" t="t" r="r" b="b"/>
              <a:pathLst>
                <a:path w="20875625" h="2736342">
                  <a:moveTo>
                    <a:pt x="0" y="0"/>
                  </a:moveTo>
                  <a:lnTo>
                    <a:pt x="20875625" y="0"/>
                  </a:lnTo>
                  <a:lnTo>
                    <a:pt x="20875625" y="2736342"/>
                  </a:lnTo>
                  <a:lnTo>
                    <a:pt x="0" y="2736342"/>
                  </a:lnTo>
                  <a:close/>
                </a:path>
              </a:pathLst>
            </a:custGeom>
            <a:solidFill>
              <a:srgbClr val="262626"/>
            </a:solidFill>
          </p:spPr>
        </p:sp>
      </p:grpSp>
      <p:grpSp>
        <p:nvGrpSpPr>
          <p:cNvPr id="11" name="Group 11"/>
          <p:cNvGrpSpPr/>
          <p:nvPr/>
        </p:nvGrpSpPr>
        <p:grpSpPr>
          <a:xfrm>
            <a:off x="15878737" y="914400"/>
            <a:ext cx="2404491" cy="2052295"/>
            <a:chOff x="0" y="0"/>
            <a:chExt cx="3205988" cy="2736393"/>
          </a:xfrm>
        </p:grpSpPr>
        <p:sp>
          <p:nvSpPr>
            <p:cNvPr id="12" name="Freeform 12"/>
            <p:cNvSpPr/>
            <p:nvPr/>
          </p:nvSpPr>
          <p:spPr>
            <a:xfrm>
              <a:off x="0" y="0"/>
              <a:ext cx="3205988" cy="2736342"/>
            </a:xfrm>
            <a:custGeom>
              <a:avLst/>
              <a:gdLst/>
              <a:ahLst/>
              <a:cxnLst/>
              <a:rect l="l" t="t" r="r" b="b"/>
              <a:pathLst>
                <a:path w="3205988" h="2736342">
                  <a:moveTo>
                    <a:pt x="0" y="0"/>
                  </a:moveTo>
                  <a:lnTo>
                    <a:pt x="3205988" y="0"/>
                  </a:lnTo>
                  <a:lnTo>
                    <a:pt x="3205988" y="2736342"/>
                  </a:lnTo>
                  <a:lnTo>
                    <a:pt x="0" y="2736342"/>
                  </a:lnTo>
                  <a:close/>
                </a:path>
              </a:pathLst>
            </a:custGeom>
            <a:solidFill>
              <a:srgbClr val="A7D535"/>
            </a:solidFill>
          </p:spPr>
        </p:sp>
      </p:grpSp>
      <p:grpSp>
        <p:nvGrpSpPr>
          <p:cNvPr id="13" name="Group 13"/>
          <p:cNvGrpSpPr/>
          <p:nvPr/>
        </p:nvGrpSpPr>
        <p:grpSpPr>
          <a:xfrm>
            <a:off x="1020480" y="1129846"/>
            <a:ext cx="14420793" cy="1621403"/>
            <a:chOff x="0" y="0"/>
            <a:chExt cx="19227724" cy="2161870"/>
          </a:xfrm>
        </p:grpSpPr>
        <p:sp>
          <p:nvSpPr>
            <p:cNvPr id="14" name="Freeform 14"/>
            <p:cNvSpPr/>
            <p:nvPr/>
          </p:nvSpPr>
          <p:spPr>
            <a:xfrm>
              <a:off x="0" y="0"/>
              <a:ext cx="19227722" cy="2161876"/>
            </a:xfrm>
            <a:custGeom>
              <a:avLst/>
              <a:gdLst/>
              <a:ahLst/>
              <a:cxnLst/>
              <a:rect l="l" t="t" r="r" b="b"/>
              <a:pathLst>
                <a:path w="19227722" h="2161876">
                  <a:moveTo>
                    <a:pt x="0" y="0"/>
                  </a:moveTo>
                  <a:lnTo>
                    <a:pt x="19227722" y="0"/>
                  </a:lnTo>
                  <a:lnTo>
                    <a:pt x="19227722" y="2161876"/>
                  </a:lnTo>
                  <a:lnTo>
                    <a:pt x="0" y="2161876"/>
                  </a:lnTo>
                  <a:close/>
                </a:path>
              </a:pathLst>
            </a:custGeom>
            <a:blipFill>
              <a:blip r:embed="rId6">
                <a:alphaModFix amt="0"/>
              </a:blip>
              <a:stretch>
                <a:fillRect t="-123300" b="-123299"/>
              </a:stretch>
            </a:blipFill>
          </p:spPr>
        </p:sp>
        <p:sp>
          <p:nvSpPr>
            <p:cNvPr id="15" name="TextBox 15"/>
            <p:cNvSpPr txBox="1"/>
            <p:nvPr/>
          </p:nvSpPr>
          <p:spPr>
            <a:xfrm>
              <a:off x="0" y="28575"/>
              <a:ext cx="19227724" cy="2133295"/>
            </a:xfrm>
            <a:prstGeom prst="rect">
              <a:avLst/>
            </a:prstGeom>
          </p:spPr>
          <p:txBody>
            <a:bodyPr lIns="0" tIns="0" rIns="0" bIns="0" rtlCol="0" anchor="ctr"/>
            <a:lstStyle/>
            <a:p>
              <a:pPr algn="l">
                <a:lnSpc>
                  <a:spcPts val="5830"/>
                </a:lnSpc>
              </a:pPr>
              <a:r>
                <a:rPr lang="en-US" sz="5400" dirty="0">
                  <a:solidFill>
                    <a:srgbClr val="FFFFFF"/>
                  </a:solidFill>
                  <a:latin typeface="Arial" panose="020B0604020202020204"/>
                  <a:ea typeface="Arial" panose="020B0604020202020204"/>
                  <a:cs typeface="Arial" panose="020B0604020202020204"/>
                  <a:sym typeface="Arial" panose="020B0604020202020204"/>
                </a:rPr>
                <a:t>Purpose of the System</a:t>
              </a:r>
            </a:p>
          </p:txBody>
        </p:sp>
      </p:grpSp>
      <p:grpSp>
        <p:nvGrpSpPr>
          <p:cNvPr id="16" name="Group 16"/>
          <p:cNvGrpSpPr/>
          <p:nvPr/>
        </p:nvGrpSpPr>
        <p:grpSpPr>
          <a:xfrm>
            <a:off x="15835160" y="1630899"/>
            <a:ext cx="2401291" cy="2371973"/>
            <a:chOff x="0" y="0"/>
            <a:chExt cx="3201721" cy="3162630"/>
          </a:xfrm>
        </p:grpSpPr>
        <p:sp>
          <p:nvSpPr>
            <p:cNvPr id="17" name="Freeform 17"/>
            <p:cNvSpPr/>
            <p:nvPr/>
          </p:nvSpPr>
          <p:spPr>
            <a:xfrm>
              <a:off x="0" y="0"/>
              <a:ext cx="3201670" cy="3162681"/>
            </a:xfrm>
            <a:custGeom>
              <a:avLst/>
              <a:gdLst/>
              <a:ahLst/>
              <a:cxnLst/>
              <a:rect l="l" t="t" r="r" b="b"/>
              <a:pathLst>
                <a:path w="3201670" h="3162681">
                  <a:moveTo>
                    <a:pt x="0" y="0"/>
                  </a:moveTo>
                  <a:lnTo>
                    <a:pt x="3201670" y="0"/>
                  </a:lnTo>
                  <a:lnTo>
                    <a:pt x="3201670" y="3162681"/>
                  </a:lnTo>
                  <a:lnTo>
                    <a:pt x="0" y="3162681"/>
                  </a:lnTo>
                  <a:lnTo>
                    <a:pt x="0" y="0"/>
                  </a:lnTo>
                  <a:close/>
                </a:path>
              </a:pathLst>
            </a:custGeom>
            <a:blipFill>
              <a:blip r:embed="rId7"/>
              <a:stretch>
                <a:fillRect r="-1" b="1"/>
              </a:stretch>
            </a:blipFill>
          </p:spPr>
        </p:sp>
      </p:grpSp>
      <p:grpSp>
        <p:nvGrpSpPr>
          <p:cNvPr id="18" name="Group 18"/>
          <p:cNvGrpSpPr/>
          <p:nvPr/>
        </p:nvGrpSpPr>
        <p:grpSpPr>
          <a:xfrm>
            <a:off x="13481580" y="65599"/>
            <a:ext cx="2743400" cy="2743400"/>
            <a:chOff x="0" y="0"/>
            <a:chExt cx="3657867" cy="3657867"/>
          </a:xfrm>
        </p:grpSpPr>
        <p:sp>
          <p:nvSpPr>
            <p:cNvPr id="19" name="Freeform 19"/>
            <p:cNvSpPr/>
            <p:nvPr/>
          </p:nvSpPr>
          <p:spPr>
            <a:xfrm>
              <a:off x="0" y="0"/>
              <a:ext cx="3657854" cy="3657854"/>
            </a:xfrm>
            <a:custGeom>
              <a:avLst/>
              <a:gdLst/>
              <a:ahLst/>
              <a:cxnLst/>
              <a:rect l="l" t="t" r="r" b="b"/>
              <a:pathLst>
                <a:path w="3657854" h="3657854">
                  <a:moveTo>
                    <a:pt x="0" y="0"/>
                  </a:moveTo>
                  <a:lnTo>
                    <a:pt x="3657854" y="0"/>
                  </a:lnTo>
                  <a:lnTo>
                    <a:pt x="3657854" y="3657854"/>
                  </a:lnTo>
                  <a:lnTo>
                    <a:pt x="0" y="3657854"/>
                  </a:lnTo>
                  <a:lnTo>
                    <a:pt x="0" y="0"/>
                  </a:lnTo>
                  <a:close/>
                </a:path>
              </a:pathLst>
            </a:custGeom>
            <a:blipFill>
              <a:blip r:embed="rId8"/>
              <a:stretch>
                <a:fillRect/>
              </a:stretch>
            </a:blipFill>
          </p:spPr>
        </p:sp>
      </p:grpSp>
      <p:sp>
        <p:nvSpPr>
          <p:cNvPr id="21" name="TextBox 20">
            <a:extLst>
              <a:ext uri="{FF2B5EF4-FFF2-40B4-BE49-F238E27FC236}">
                <a16:creationId xmlns:a16="http://schemas.microsoft.com/office/drawing/2014/main" id="{497AFFEA-5A14-62B9-665F-166D592EAC6C}"/>
              </a:ext>
            </a:extLst>
          </p:cNvPr>
          <p:cNvSpPr txBox="1"/>
          <p:nvPr/>
        </p:nvSpPr>
        <p:spPr>
          <a:xfrm>
            <a:off x="228600" y="2816904"/>
            <a:ext cx="15849600" cy="8087983"/>
          </a:xfrm>
          <a:prstGeom prst="rect">
            <a:avLst/>
          </a:prstGeom>
          <a:noFill/>
        </p:spPr>
        <p:txBody>
          <a:bodyPr wrap="square">
            <a:spAutoFit/>
          </a:bodyPr>
          <a:lstStyle/>
          <a:p>
            <a:pPr lvl="0" algn="just" fontAlgn="base">
              <a:lnSpc>
                <a:spcPct val="150000"/>
              </a:lnSpc>
            </a:pPr>
            <a:r>
              <a:rPr lang="en-US" sz="3500" b="1" dirty="0"/>
              <a:t>Digital Record Management</a:t>
            </a:r>
            <a:r>
              <a:rPr lang="en-US" sz="3500" dirty="0"/>
              <a:t> – Replaces the existing paper logbook with an electronic method of recording requests. ​</a:t>
            </a:r>
          </a:p>
          <a:p>
            <a:pPr lvl="0" algn="just" fontAlgn="base">
              <a:lnSpc>
                <a:spcPct val="150000"/>
              </a:lnSpc>
            </a:pPr>
            <a:r>
              <a:rPr lang="en-US" sz="3500" b="1" dirty="0"/>
              <a:t>Faster Record Retrieval</a:t>
            </a:r>
            <a:r>
              <a:rPr lang="en-US" sz="3500" dirty="0"/>
              <a:t> – Makes previous client and request information easier to locate. ​</a:t>
            </a:r>
          </a:p>
          <a:p>
            <a:pPr lvl="0" algn="just" fontAlgn="base">
              <a:lnSpc>
                <a:spcPct val="150000"/>
              </a:lnSpc>
            </a:pPr>
            <a:r>
              <a:rPr lang="en-US" sz="3500" b="1" dirty="0"/>
              <a:t>Request Monitoring</a:t>
            </a:r>
            <a:r>
              <a:rPr lang="en-US" sz="3500" dirty="0"/>
              <a:t> – Provides a more organized way of monitoring the progress of client requests. ​</a:t>
            </a:r>
          </a:p>
          <a:p>
            <a:pPr lvl="0" algn="just" fontAlgn="base">
              <a:lnSpc>
                <a:spcPct val="150000"/>
              </a:lnSpc>
            </a:pPr>
            <a:r>
              <a:rPr lang="en-US" sz="3500" b="1" dirty="0"/>
              <a:t>Record Protection</a:t>
            </a:r>
            <a:r>
              <a:rPr lang="en-US" sz="3500" dirty="0"/>
              <a:t> – Reduces the risk of physical records being lost or damaged. ​</a:t>
            </a:r>
          </a:p>
          <a:p>
            <a:pPr lvl="0" algn="just" fontAlgn="base">
              <a:lnSpc>
                <a:spcPct val="150000"/>
              </a:lnSpc>
            </a:pPr>
            <a:r>
              <a:rPr lang="en-US" sz="3500" b="1" dirty="0"/>
              <a:t>Operational Efficiency</a:t>
            </a:r>
            <a:r>
              <a:rPr lang="en-US" sz="3500" dirty="0"/>
              <a:t> – Helps reduce the time and effort required to manage records and prepare reports.​</a:t>
            </a:r>
          </a:p>
          <a:p>
            <a:pPr lvl="0" algn="just" fontAlgn="base">
              <a:lnSpc>
                <a:spcPct val="150000"/>
              </a:lnSpc>
            </a:pPr>
            <a:r>
              <a:rPr lang="en-US" sz="350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0"/>
            <a:ext cx="18288000" cy="10287000"/>
            <a:chOff x="0" y="0"/>
            <a:chExt cx="24384000" cy="13716000"/>
          </a:xfrm>
        </p:grpSpPr>
        <p:sp>
          <p:nvSpPr>
            <p:cNvPr id="4" name="Freeform 4" descr="hashOverlay-FullResolv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alphaModFix amt="9999"/>
              </a:blip>
              <a:stretch>
                <a:fillRect/>
              </a:stretch>
            </a:blipFill>
          </p:spPr>
        </p:sp>
      </p:grpSp>
      <p:grpSp>
        <p:nvGrpSpPr>
          <p:cNvPr id="5" name="Group 5"/>
          <p:cNvGrpSpPr/>
          <p:nvPr/>
        </p:nvGrpSpPr>
        <p:grpSpPr>
          <a:xfrm>
            <a:off x="1" y="2955360"/>
            <a:ext cx="15656719" cy="481746"/>
            <a:chOff x="0" y="0"/>
            <a:chExt cx="20875625" cy="642328"/>
          </a:xfrm>
        </p:grpSpPr>
        <p:sp>
          <p:nvSpPr>
            <p:cNvPr id="6" name="Freeform 6" descr="HD-ShadowLong.png"/>
            <p:cNvSpPr/>
            <p:nvPr/>
          </p:nvSpPr>
          <p:spPr>
            <a:xfrm>
              <a:off x="0" y="0"/>
              <a:ext cx="20875625" cy="642366"/>
            </a:xfrm>
            <a:custGeom>
              <a:avLst/>
              <a:gdLst/>
              <a:ahLst/>
              <a:cxnLst/>
              <a:rect l="l" t="t" r="r" b="b"/>
              <a:pathLst>
                <a:path w="20875625" h="642366">
                  <a:moveTo>
                    <a:pt x="0" y="0"/>
                  </a:moveTo>
                  <a:lnTo>
                    <a:pt x="20875625" y="0"/>
                  </a:lnTo>
                  <a:lnTo>
                    <a:pt x="20875625" y="642366"/>
                  </a:lnTo>
                  <a:lnTo>
                    <a:pt x="0" y="642366"/>
                  </a:lnTo>
                  <a:lnTo>
                    <a:pt x="0" y="0"/>
                  </a:lnTo>
                  <a:close/>
                </a:path>
              </a:pathLst>
            </a:custGeom>
            <a:blipFill>
              <a:blip r:embed="rId4"/>
              <a:stretch>
                <a:fillRect b="5"/>
              </a:stretch>
            </a:blipFill>
          </p:spPr>
        </p:sp>
      </p:grpSp>
      <p:grpSp>
        <p:nvGrpSpPr>
          <p:cNvPr id="7" name="Group 7"/>
          <p:cNvGrpSpPr/>
          <p:nvPr/>
        </p:nvGrpSpPr>
        <p:grpSpPr>
          <a:xfrm>
            <a:off x="15878737" y="2956855"/>
            <a:ext cx="2404491" cy="216408"/>
            <a:chOff x="0" y="0"/>
            <a:chExt cx="3205988" cy="288544"/>
          </a:xfrm>
        </p:grpSpPr>
        <p:sp>
          <p:nvSpPr>
            <p:cNvPr id="8" name="Freeform 8" descr="HD-ShadowShort.png"/>
            <p:cNvSpPr/>
            <p:nvPr/>
          </p:nvSpPr>
          <p:spPr>
            <a:xfrm>
              <a:off x="0" y="0"/>
              <a:ext cx="3205988" cy="288544"/>
            </a:xfrm>
            <a:custGeom>
              <a:avLst/>
              <a:gdLst/>
              <a:ahLst/>
              <a:cxnLst/>
              <a:rect l="l" t="t" r="r" b="b"/>
              <a:pathLst>
                <a:path w="3205988" h="288544">
                  <a:moveTo>
                    <a:pt x="0" y="0"/>
                  </a:moveTo>
                  <a:lnTo>
                    <a:pt x="3205988" y="0"/>
                  </a:lnTo>
                  <a:lnTo>
                    <a:pt x="3205988" y="288544"/>
                  </a:lnTo>
                  <a:lnTo>
                    <a:pt x="0" y="288544"/>
                  </a:lnTo>
                  <a:lnTo>
                    <a:pt x="0" y="0"/>
                  </a:lnTo>
                  <a:close/>
                </a:path>
              </a:pathLst>
            </a:custGeom>
            <a:blipFill>
              <a:blip r:embed="rId5"/>
              <a:stretch>
                <a:fillRect/>
              </a:stretch>
            </a:blipFill>
          </p:spPr>
        </p:sp>
      </p:grpSp>
      <p:grpSp>
        <p:nvGrpSpPr>
          <p:cNvPr id="9" name="Group 9"/>
          <p:cNvGrpSpPr/>
          <p:nvPr/>
        </p:nvGrpSpPr>
        <p:grpSpPr>
          <a:xfrm>
            <a:off x="0" y="914400"/>
            <a:ext cx="15656719" cy="2052295"/>
            <a:chOff x="0" y="0"/>
            <a:chExt cx="20875625" cy="2736393"/>
          </a:xfrm>
        </p:grpSpPr>
        <p:sp>
          <p:nvSpPr>
            <p:cNvPr id="10" name="Freeform 10"/>
            <p:cNvSpPr/>
            <p:nvPr/>
          </p:nvSpPr>
          <p:spPr>
            <a:xfrm>
              <a:off x="0" y="0"/>
              <a:ext cx="20875625" cy="2736342"/>
            </a:xfrm>
            <a:custGeom>
              <a:avLst/>
              <a:gdLst/>
              <a:ahLst/>
              <a:cxnLst/>
              <a:rect l="l" t="t" r="r" b="b"/>
              <a:pathLst>
                <a:path w="20875625" h="2736342">
                  <a:moveTo>
                    <a:pt x="0" y="0"/>
                  </a:moveTo>
                  <a:lnTo>
                    <a:pt x="20875625" y="0"/>
                  </a:lnTo>
                  <a:lnTo>
                    <a:pt x="20875625" y="2736342"/>
                  </a:lnTo>
                  <a:lnTo>
                    <a:pt x="0" y="2736342"/>
                  </a:lnTo>
                  <a:close/>
                </a:path>
              </a:pathLst>
            </a:custGeom>
            <a:solidFill>
              <a:srgbClr val="262626"/>
            </a:solidFill>
          </p:spPr>
        </p:sp>
      </p:grpSp>
      <p:grpSp>
        <p:nvGrpSpPr>
          <p:cNvPr id="11" name="Group 11"/>
          <p:cNvGrpSpPr/>
          <p:nvPr/>
        </p:nvGrpSpPr>
        <p:grpSpPr>
          <a:xfrm>
            <a:off x="15878737" y="914400"/>
            <a:ext cx="2404491" cy="2052295"/>
            <a:chOff x="0" y="0"/>
            <a:chExt cx="3205988" cy="2736393"/>
          </a:xfrm>
        </p:grpSpPr>
        <p:sp>
          <p:nvSpPr>
            <p:cNvPr id="12" name="Freeform 12"/>
            <p:cNvSpPr/>
            <p:nvPr/>
          </p:nvSpPr>
          <p:spPr>
            <a:xfrm>
              <a:off x="0" y="0"/>
              <a:ext cx="3205988" cy="2736342"/>
            </a:xfrm>
            <a:custGeom>
              <a:avLst/>
              <a:gdLst/>
              <a:ahLst/>
              <a:cxnLst/>
              <a:rect l="l" t="t" r="r" b="b"/>
              <a:pathLst>
                <a:path w="3205988" h="2736342">
                  <a:moveTo>
                    <a:pt x="0" y="0"/>
                  </a:moveTo>
                  <a:lnTo>
                    <a:pt x="3205988" y="0"/>
                  </a:lnTo>
                  <a:lnTo>
                    <a:pt x="3205988" y="2736342"/>
                  </a:lnTo>
                  <a:lnTo>
                    <a:pt x="0" y="2736342"/>
                  </a:lnTo>
                  <a:close/>
                </a:path>
              </a:pathLst>
            </a:custGeom>
            <a:solidFill>
              <a:srgbClr val="A7D535"/>
            </a:solidFill>
          </p:spPr>
        </p:sp>
      </p:grpSp>
      <p:grpSp>
        <p:nvGrpSpPr>
          <p:cNvPr id="13" name="Group 13"/>
          <p:cNvGrpSpPr/>
          <p:nvPr/>
        </p:nvGrpSpPr>
        <p:grpSpPr>
          <a:xfrm>
            <a:off x="1020480" y="1129846"/>
            <a:ext cx="14420793" cy="1621403"/>
            <a:chOff x="0" y="0"/>
            <a:chExt cx="19227724" cy="2161870"/>
          </a:xfrm>
        </p:grpSpPr>
        <p:sp>
          <p:nvSpPr>
            <p:cNvPr id="14" name="Freeform 14"/>
            <p:cNvSpPr/>
            <p:nvPr/>
          </p:nvSpPr>
          <p:spPr>
            <a:xfrm>
              <a:off x="0" y="0"/>
              <a:ext cx="19227722" cy="2161876"/>
            </a:xfrm>
            <a:custGeom>
              <a:avLst/>
              <a:gdLst/>
              <a:ahLst/>
              <a:cxnLst/>
              <a:rect l="l" t="t" r="r" b="b"/>
              <a:pathLst>
                <a:path w="19227722" h="2161876">
                  <a:moveTo>
                    <a:pt x="0" y="0"/>
                  </a:moveTo>
                  <a:lnTo>
                    <a:pt x="19227722" y="0"/>
                  </a:lnTo>
                  <a:lnTo>
                    <a:pt x="19227722" y="2161876"/>
                  </a:lnTo>
                  <a:lnTo>
                    <a:pt x="0" y="2161876"/>
                  </a:lnTo>
                  <a:close/>
                </a:path>
              </a:pathLst>
            </a:custGeom>
            <a:blipFill>
              <a:blip r:embed="rId6">
                <a:alphaModFix amt="0"/>
              </a:blip>
              <a:stretch>
                <a:fillRect t="-123300" b="-123299"/>
              </a:stretch>
            </a:blipFill>
          </p:spPr>
        </p:sp>
        <p:sp>
          <p:nvSpPr>
            <p:cNvPr id="15" name="TextBox 15"/>
            <p:cNvSpPr txBox="1"/>
            <p:nvPr/>
          </p:nvSpPr>
          <p:spPr>
            <a:xfrm>
              <a:off x="0" y="28575"/>
              <a:ext cx="19227724" cy="2133295"/>
            </a:xfrm>
            <a:prstGeom prst="rect">
              <a:avLst/>
            </a:prstGeom>
          </p:spPr>
          <p:txBody>
            <a:bodyPr lIns="0" tIns="0" rIns="0" bIns="0" rtlCol="0" anchor="ctr"/>
            <a:lstStyle/>
            <a:p>
              <a:pPr algn="l">
                <a:lnSpc>
                  <a:spcPts val="5830"/>
                </a:lnSpc>
              </a:pPr>
              <a:r>
                <a:rPr lang="en-US" sz="5400" dirty="0">
                  <a:solidFill>
                    <a:srgbClr val="FFFFFF"/>
                  </a:solidFill>
                  <a:latin typeface="Arial" panose="020B0604020202020204"/>
                  <a:ea typeface="Arial" panose="020B0604020202020204"/>
                  <a:cs typeface="Arial" panose="020B0604020202020204"/>
                  <a:sym typeface="Arial" panose="020B0604020202020204"/>
                </a:rPr>
                <a:t>System Objectives</a:t>
              </a:r>
            </a:p>
          </p:txBody>
        </p:sp>
      </p:grpSp>
      <p:grpSp>
        <p:nvGrpSpPr>
          <p:cNvPr id="16" name="Group 16"/>
          <p:cNvGrpSpPr/>
          <p:nvPr/>
        </p:nvGrpSpPr>
        <p:grpSpPr>
          <a:xfrm>
            <a:off x="15835160" y="1630899"/>
            <a:ext cx="2401291" cy="2371973"/>
            <a:chOff x="0" y="0"/>
            <a:chExt cx="3201721" cy="3162630"/>
          </a:xfrm>
        </p:grpSpPr>
        <p:sp>
          <p:nvSpPr>
            <p:cNvPr id="17" name="Freeform 17"/>
            <p:cNvSpPr/>
            <p:nvPr/>
          </p:nvSpPr>
          <p:spPr>
            <a:xfrm>
              <a:off x="0" y="0"/>
              <a:ext cx="3201670" cy="3162681"/>
            </a:xfrm>
            <a:custGeom>
              <a:avLst/>
              <a:gdLst/>
              <a:ahLst/>
              <a:cxnLst/>
              <a:rect l="l" t="t" r="r" b="b"/>
              <a:pathLst>
                <a:path w="3201670" h="3162681">
                  <a:moveTo>
                    <a:pt x="0" y="0"/>
                  </a:moveTo>
                  <a:lnTo>
                    <a:pt x="3201670" y="0"/>
                  </a:lnTo>
                  <a:lnTo>
                    <a:pt x="3201670" y="3162681"/>
                  </a:lnTo>
                  <a:lnTo>
                    <a:pt x="0" y="3162681"/>
                  </a:lnTo>
                  <a:lnTo>
                    <a:pt x="0" y="0"/>
                  </a:lnTo>
                  <a:close/>
                </a:path>
              </a:pathLst>
            </a:custGeom>
            <a:blipFill>
              <a:blip r:embed="rId7"/>
              <a:stretch>
                <a:fillRect r="-1" b="1"/>
              </a:stretch>
            </a:blipFill>
          </p:spPr>
        </p:sp>
      </p:grpSp>
      <p:grpSp>
        <p:nvGrpSpPr>
          <p:cNvPr id="18" name="Group 18"/>
          <p:cNvGrpSpPr/>
          <p:nvPr/>
        </p:nvGrpSpPr>
        <p:grpSpPr>
          <a:xfrm>
            <a:off x="13481580" y="65599"/>
            <a:ext cx="2743400" cy="2743400"/>
            <a:chOff x="0" y="0"/>
            <a:chExt cx="3657867" cy="3657867"/>
          </a:xfrm>
        </p:grpSpPr>
        <p:sp>
          <p:nvSpPr>
            <p:cNvPr id="19" name="Freeform 19"/>
            <p:cNvSpPr/>
            <p:nvPr/>
          </p:nvSpPr>
          <p:spPr>
            <a:xfrm>
              <a:off x="0" y="0"/>
              <a:ext cx="3657854" cy="3657854"/>
            </a:xfrm>
            <a:custGeom>
              <a:avLst/>
              <a:gdLst/>
              <a:ahLst/>
              <a:cxnLst/>
              <a:rect l="l" t="t" r="r" b="b"/>
              <a:pathLst>
                <a:path w="3657854" h="3657854">
                  <a:moveTo>
                    <a:pt x="0" y="0"/>
                  </a:moveTo>
                  <a:lnTo>
                    <a:pt x="3657854" y="0"/>
                  </a:lnTo>
                  <a:lnTo>
                    <a:pt x="3657854" y="3657854"/>
                  </a:lnTo>
                  <a:lnTo>
                    <a:pt x="0" y="3657854"/>
                  </a:lnTo>
                  <a:lnTo>
                    <a:pt x="0" y="0"/>
                  </a:lnTo>
                  <a:close/>
                </a:path>
              </a:pathLst>
            </a:custGeom>
            <a:blipFill>
              <a:blip r:embed="rId8"/>
              <a:stretch>
                <a:fillRect/>
              </a:stretch>
            </a:blipFill>
          </p:spPr>
        </p:sp>
      </p:grpSp>
      <p:sp>
        <p:nvSpPr>
          <p:cNvPr id="20" name="TextBox 20"/>
          <p:cNvSpPr txBox="1"/>
          <p:nvPr/>
        </p:nvSpPr>
        <p:spPr>
          <a:xfrm>
            <a:off x="457201" y="3085783"/>
            <a:ext cx="15294292" cy="7004674"/>
          </a:xfrm>
          <a:prstGeom prst="rect">
            <a:avLst/>
          </a:prstGeom>
        </p:spPr>
        <p:txBody>
          <a:bodyPr wrap="square" lIns="0" tIns="0" rIns="0" bIns="0" rtlCol="0" anchor="t">
            <a:spAutoFit/>
          </a:bodyPr>
          <a:lstStyle/>
          <a:p>
            <a:pPr lvl="0" algn="just" fontAlgn="base">
              <a:lnSpc>
                <a:spcPct val="150000"/>
              </a:lnSpc>
            </a:pPr>
            <a:r>
              <a:rPr lang="en-US" sz="4400" b="1" dirty="0"/>
              <a:t>Design</a:t>
            </a:r>
            <a:r>
              <a:rPr lang="en-US" sz="4400" dirty="0"/>
              <a:t> – To design a web-based electronic system for recording and monitoring client requests. ​</a:t>
            </a:r>
          </a:p>
          <a:p>
            <a:pPr lvl="0" algn="just" fontAlgn="base">
              <a:lnSpc>
                <a:spcPct val="150000"/>
              </a:lnSpc>
            </a:pPr>
            <a:r>
              <a:rPr lang="en-US" sz="4400" b="1" dirty="0"/>
              <a:t>Develop</a:t>
            </a:r>
            <a:r>
              <a:rPr lang="en-US" sz="4400" dirty="0"/>
              <a:t> – To develop a platform for managing client records, tracking request status, and generating reports. ​</a:t>
            </a:r>
          </a:p>
          <a:p>
            <a:pPr lvl="0" algn="just" fontAlgn="base">
              <a:lnSpc>
                <a:spcPct val="150000"/>
              </a:lnSpc>
            </a:pPr>
            <a:r>
              <a:rPr lang="en-US" sz="4400" b="1" dirty="0"/>
              <a:t>Test</a:t>
            </a:r>
            <a:r>
              <a:rPr lang="en-US" sz="4400" dirty="0"/>
              <a:t> – To test the system in terms of functionality, reliability, and ease of use. ​</a:t>
            </a:r>
          </a:p>
          <a:p>
            <a:pPr lvl="0" algn="just" fontAlgn="base">
              <a:lnSpc>
                <a:spcPct val="150000"/>
              </a:lnSpc>
            </a:pPr>
            <a:r>
              <a:rPr lang="en-US" sz="4400"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1D6B2-7865-C0F9-4A28-F514C600870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E3C47A5-1000-75E3-DA82-F7E731647CA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a:extLst>
              <a:ext uri="{FF2B5EF4-FFF2-40B4-BE49-F238E27FC236}">
                <a16:creationId xmlns:a16="http://schemas.microsoft.com/office/drawing/2014/main" id="{01D5AD02-B045-A5C4-EF00-9D1663230DB9}"/>
              </a:ext>
            </a:extLst>
          </p:cNvPr>
          <p:cNvGrpSpPr/>
          <p:nvPr/>
        </p:nvGrpSpPr>
        <p:grpSpPr>
          <a:xfrm>
            <a:off x="0" y="0"/>
            <a:ext cx="18288000" cy="10287000"/>
            <a:chOff x="0" y="0"/>
            <a:chExt cx="24384000" cy="13716000"/>
          </a:xfrm>
        </p:grpSpPr>
        <p:sp>
          <p:nvSpPr>
            <p:cNvPr id="4" name="Freeform 4" descr="hashOverlay-FullResolve.png">
              <a:extLst>
                <a:ext uri="{FF2B5EF4-FFF2-40B4-BE49-F238E27FC236}">
                  <a16:creationId xmlns:a16="http://schemas.microsoft.com/office/drawing/2014/main" id="{D10E65FE-810E-D4BD-B702-C106779A524F}"/>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alphaModFix amt="9999"/>
              </a:blip>
              <a:stretch>
                <a:fillRect/>
              </a:stretch>
            </a:blipFill>
          </p:spPr>
        </p:sp>
      </p:grpSp>
      <p:grpSp>
        <p:nvGrpSpPr>
          <p:cNvPr id="5" name="Group 5">
            <a:extLst>
              <a:ext uri="{FF2B5EF4-FFF2-40B4-BE49-F238E27FC236}">
                <a16:creationId xmlns:a16="http://schemas.microsoft.com/office/drawing/2014/main" id="{AC4766D6-4432-D626-70F1-FA9C1B497D40}"/>
              </a:ext>
            </a:extLst>
          </p:cNvPr>
          <p:cNvGrpSpPr/>
          <p:nvPr/>
        </p:nvGrpSpPr>
        <p:grpSpPr>
          <a:xfrm>
            <a:off x="1" y="2955360"/>
            <a:ext cx="15656719" cy="481746"/>
            <a:chOff x="0" y="0"/>
            <a:chExt cx="20875625" cy="642328"/>
          </a:xfrm>
        </p:grpSpPr>
        <p:sp>
          <p:nvSpPr>
            <p:cNvPr id="6" name="Freeform 6" descr="HD-ShadowLong.png">
              <a:extLst>
                <a:ext uri="{FF2B5EF4-FFF2-40B4-BE49-F238E27FC236}">
                  <a16:creationId xmlns:a16="http://schemas.microsoft.com/office/drawing/2014/main" id="{AC7BA420-23A3-EE62-97AB-618E759DDDEB}"/>
                </a:ext>
              </a:extLst>
            </p:cNvPr>
            <p:cNvSpPr/>
            <p:nvPr/>
          </p:nvSpPr>
          <p:spPr>
            <a:xfrm>
              <a:off x="0" y="0"/>
              <a:ext cx="20875625" cy="642366"/>
            </a:xfrm>
            <a:custGeom>
              <a:avLst/>
              <a:gdLst/>
              <a:ahLst/>
              <a:cxnLst/>
              <a:rect l="l" t="t" r="r" b="b"/>
              <a:pathLst>
                <a:path w="20875625" h="642366">
                  <a:moveTo>
                    <a:pt x="0" y="0"/>
                  </a:moveTo>
                  <a:lnTo>
                    <a:pt x="20875625" y="0"/>
                  </a:lnTo>
                  <a:lnTo>
                    <a:pt x="20875625" y="642366"/>
                  </a:lnTo>
                  <a:lnTo>
                    <a:pt x="0" y="642366"/>
                  </a:lnTo>
                  <a:lnTo>
                    <a:pt x="0" y="0"/>
                  </a:lnTo>
                  <a:close/>
                </a:path>
              </a:pathLst>
            </a:custGeom>
            <a:blipFill>
              <a:blip r:embed="rId4"/>
              <a:stretch>
                <a:fillRect b="5"/>
              </a:stretch>
            </a:blipFill>
          </p:spPr>
        </p:sp>
      </p:grpSp>
      <p:grpSp>
        <p:nvGrpSpPr>
          <p:cNvPr id="7" name="Group 7">
            <a:extLst>
              <a:ext uri="{FF2B5EF4-FFF2-40B4-BE49-F238E27FC236}">
                <a16:creationId xmlns:a16="http://schemas.microsoft.com/office/drawing/2014/main" id="{DA5B636B-63DE-B04E-0BB9-3EF2C53D901E}"/>
              </a:ext>
            </a:extLst>
          </p:cNvPr>
          <p:cNvGrpSpPr/>
          <p:nvPr/>
        </p:nvGrpSpPr>
        <p:grpSpPr>
          <a:xfrm>
            <a:off x="15878737" y="2956855"/>
            <a:ext cx="2404491" cy="216408"/>
            <a:chOff x="0" y="0"/>
            <a:chExt cx="3205988" cy="288544"/>
          </a:xfrm>
        </p:grpSpPr>
        <p:sp>
          <p:nvSpPr>
            <p:cNvPr id="8" name="Freeform 8" descr="HD-ShadowShort.png">
              <a:extLst>
                <a:ext uri="{FF2B5EF4-FFF2-40B4-BE49-F238E27FC236}">
                  <a16:creationId xmlns:a16="http://schemas.microsoft.com/office/drawing/2014/main" id="{26869898-059E-21B8-2BB2-33DF10AF5709}"/>
                </a:ext>
              </a:extLst>
            </p:cNvPr>
            <p:cNvSpPr/>
            <p:nvPr/>
          </p:nvSpPr>
          <p:spPr>
            <a:xfrm>
              <a:off x="0" y="0"/>
              <a:ext cx="3205988" cy="288544"/>
            </a:xfrm>
            <a:custGeom>
              <a:avLst/>
              <a:gdLst/>
              <a:ahLst/>
              <a:cxnLst/>
              <a:rect l="l" t="t" r="r" b="b"/>
              <a:pathLst>
                <a:path w="3205988" h="288544">
                  <a:moveTo>
                    <a:pt x="0" y="0"/>
                  </a:moveTo>
                  <a:lnTo>
                    <a:pt x="3205988" y="0"/>
                  </a:lnTo>
                  <a:lnTo>
                    <a:pt x="3205988" y="288544"/>
                  </a:lnTo>
                  <a:lnTo>
                    <a:pt x="0" y="288544"/>
                  </a:lnTo>
                  <a:lnTo>
                    <a:pt x="0" y="0"/>
                  </a:lnTo>
                  <a:close/>
                </a:path>
              </a:pathLst>
            </a:custGeom>
            <a:blipFill>
              <a:blip r:embed="rId5"/>
              <a:stretch>
                <a:fillRect/>
              </a:stretch>
            </a:blipFill>
          </p:spPr>
        </p:sp>
      </p:grpSp>
      <p:grpSp>
        <p:nvGrpSpPr>
          <p:cNvPr id="9" name="Group 9">
            <a:extLst>
              <a:ext uri="{FF2B5EF4-FFF2-40B4-BE49-F238E27FC236}">
                <a16:creationId xmlns:a16="http://schemas.microsoft.com/office/drawing/2014/main" id="{BCCB1F04-9E1E-40DF-5968-818B590DDA73}"/>
              </a:ext>
            </a:extLst>
          </p:cNvPr>
          <p:cNvGrpSpPr/>
          <p:nvPr/>
        </p:nvGrpSpPr>
        <p:grpSpPr>
          <a:xfrm>
            <a:off x="0" y="914400"/>
            <a:ext cx="15656719" cy="2052295"/>
            <a:chOff x="0" y="0"/>
            <a:chExt cx="20875625" cy="2736393"/>
          </a:xfrm>
        </p:grpSpPr>
        <p:sp>
          <p:nvSpPr>
            <p:cNvPr id="10" name="Freeform 10">
              <a:extLst>
                <a:ext uri="{FF2B5EF4-FFF2-40B4-BE49-F238E27FC236}">
                  <a16:creationId xmlns:a16="http://schemas.microsoft.com/office/drawing/2014/main" id="{02397295-7787-76C5-9947-7A8032A418E0}"/>
                </a:ext>
              </a:extLst>
            </p:cNvPr>
            <p:cNvSpPr/>
            <p:nvPr/>
          </p:nvSpPr>
          <p:spPr>
            <a:xfrm>
              <a:off x="0" y="0"/>
              <a:ext cx="20875625" cy="2736342"/>
            </a:xfrm>
            <a:custGeom>
              <a:avLst/>
              <a:gdLst/>
              <a:ahLst/>
              <a:cxnLst/>
              <a:rect l="l" t="t" r="r" b="b"/>
              <a:pathLst>
                <a:path w="20875625" h="2736342">
                  <a:moveTo>
                    <a:pt x="0" y="0"/>
                  </a:moveTo>
                  <a:lnTo>
                    <a:pt x="20875625" y="0"/>
                  </a:lnTo>
                  <a:lnTo>
                    <a:pt x="20875625" y="2736342"/>
                  </a:lnTo>
                  <a:lnTo>
                    <a:pt x="0" y="2736342"/>
                  </a:lnTo>
                  <a:close/>
                </a:path>
              </a:pathLst>
            </a:custGeom>
            <a:solidFill>
              <a:srgbClr val="262626"/>
            </a:solidFill>
          </p:spPr>
        </p:sp>
      </p:grpSp>
      <p:grpSp>
        <p:nvGrpSpPr>
          <p:cNvPr id="11" name="Group 11">
            <a:extLst>
              <a:ext uri="{FF2B5EF4-FFF2-40B4-BE49-F238E27FC236}">
                <a16:creationId xmlns:a16="http://schemas.microsoft.com/office/drawing/2014/main" id="{17602376-E4EC-44F6-D425-7264FD56A3B2}"/>
              </a:ext>
            </a:extLst>
          </p:cNvPr>
          <p:cNvGrpSpPr/>
          <p:nvPr/>
        </p:nvGrpSpPr>
        <p:grpSpPr>
          <a:xfrm>
            <a:off x="15878737" y="914400"/>
            <a:ext cx="2404491" cy="2052295"/>
            <a:chOff x="0" y="0"/>
            <a:chExt cx="3205988" cy="2736393"/>
          </a:xfrm>
        </p:grpSpPr>
        <p:sp>
          <p:nvSpPr>
            <p:cNvPr id="12" name="Freeform 12">
              <a:extLst>
                <a:ext uri="{FF2B5EF4-FFF2-40B4-BE49-F238E27FC236}">
                  <a16:creationId xmlns:a16="http://schemas.microsoft.com/office/drawing/2014/main" id="{A42F01F5-8780-0329-7968-DC0050590808}"/>
                </a:ext>
              </a:extLst>
            </p:cNvPr>
            <p:cNvSpPr/>
            <p:nvPr/>
          </p:nvSpPr>
          <p:spPr>
            <a:xfrm>
              <a:off x="0" y="0"/>
              <a:ext cx="3205988" cy="2736342"/>
            </a:xfrm>
            <a:custGeom>
              <a:avLst/>
              <a:gdLst/>
              <a:ahLst/>
              <a:cxnLst/>
              <a:rect l="l" t="t" r="r" b="b"/>
              <a:pathLst>
                <a:path w="3205988" h="2736342">
                  <a:moveTo>
                    <a:pt x="0" y="0"/>
                  </a:moveTo>
                  <a:lnTo>
                    <a:pt x="3205988" y="0"/>
                  </a:lnTo>
                  <a:lnTo>
                    <a:pt x="3205988" y="2736342"/>
                  </a:lnTo>
                  <a:lnTo>
                    <a:pt x="0" y="2736342"/>
                  </a:lnTo>
                  <a:close/>
                </a:path>
              </a:pathLst>
            </a:custGeom>
            <a:solidFill>
              <a:srgbClr val="A7D535"/>
            </a:solidFill>
          </p:spPr>
        </p:sp>
      </p:grpSp>
      <p:grpSp>
        <p:nvGrpSpPr>
          <p:cNvPr id="13" name="Group 13">
            <a:extLst>
              <a:ext uri="{FF2B5EF4-FFF2-40B4-BE49-F238E27FC236}">
                <a16:creationId xmlns:a16="http://schemas.microsoft.com/office/drawing/2014/main" id="{DDFC9230-DB97-4D15-630A-6E5587230641}"/>
              </a:ext>
            </a:extLst>
          </p:cNvPr>
          <p:cNvGrpSpPr/>
          <p:nvPr/>
        </p:nvGrpSpPr>
        <p:grpSpPr>
          <a:xfrm>
            <a:off x="1020480" y="1129841"/>
            <a:ext cx="14454131" cy="1621408"/>
            <a:chOff x="0" y="-7"/>
            <a:chExt cx="19272174" cy="2161877"/>
          </a:xfrm>
        </p:grpSpPr>
        <p:sp>
          <p:nvSpPr>
            <p:cNvPr id="14" name="Freeform 14">
              <a:extLst>
                <a:ext uri="{FF2B5EF4-FFF2-40B4-BE49-F238E27FC236}">
                  <a16:creationId xmlns:a16="http://schemas.microsoft.com/office/drawing/2014/main" id="{FEC79A26-ECBC-3478-50B4-B79190994FBD}"/>
                </a:ext>
              </a:extLst>
            </p:cNvPr>
            <p:cNvSpPr/>
            <p:nvPr/>
          </p:nvSpPr>
          <p:spPr>
            <a:xfrm>
              <a:off x="44451" y="-7"/>
              <a:ext cx="19227723" cy="2161877"/>
            </a:xfrm>
            <a:custGeom>
              <a:avLst/>
              <a:gdLst/>
              <a:ahLst/>
              <a:cxnLst/>
              <a:rect l="l" t="t" r="r" b="b"/>
              <a:pathLst>
                <a:path w="19227722" h="2161876">
                  <a:moveTo>
                    <a:pt x="0" y="0"/>
                  </a:moveTo>
                  <a:lnTo>
                    <a:pt x="19227722" y="0"/>
                  </a:lnTo>
                  <a:lnTo>
                    <a:pt x="19227722" y="2161876"/>
                  </a:lnTo>
                  <a:lnTo>
                    <a:pt x="0" y="2161876"/>
                  </a:lnTo>
                  <a:close/>
                </a:path>
              </a:pathLst>
            </a:custGeom>
            <a:blipFill>
              <a:blip r:embed="rId6">
                <a:alphaModFix amt="0"/>
              </a:blip>
              <a:stretch>
                <a:fillRect t="-123300" b="-123299"/>
              </a:stretch>
            </a:blipFill>
          </p:spPr>
        </p:sp>
        <p:sp>
          <p:nvSpPr>
            <p:cNvPr id="15" name="TextBox 15">
              <a:extLst>
                <a:ext uri="{FF2B5EF4-FFF2-40B4-BE49-F238E27FC236}">
                  <a16:creationId xmlns:a16="http://schemas.microsoft.com/office/drawing/2014/main" id="{B98C765F-B682-08D9-80FF-1BC1B63A1959}"/>
                </a:ext>
              </a:extLst>
            </p:cNvPr>
            <p:cNvSpPr txBox="1"/>
            <p:nvPr/>
          </p:nvSpPr>
          <p:spPr>
            <a:xfrm>
              <a:off x="0" y="28575"/>
              <a:ext cx="19227724" cy="2133295"/>
            </a:xfrm>
            <a:prstGeom prst="rect">
              <a:avLst/>
            </a:prstGeom>
          </p:spPr>
          <p:txBody>
            <a:bodyPr lIns="0" tIns="0" rIns="0" bIns="0" rtlCol="0" anchor="ctr"/>
            <a:lstStyle/>
            <a:p>
              <a:pPr>
                <a:lnSpc>
                  <a:spcPts val="5830"/>
                </a:lnSpc>
              </a:pPr>
              <a:r>
                <a:rPr lang="en-US" sz="5400" dirty="0" err="1">
                  <a:solidFill>
                    <a:srgbClr val="FFFFFF"/>
                  </a:solidFill>
                  <a:latin typeface="Arial" panose="020B0604020202020204"/>
                  <a:ea typeface="Arial" panose="020B0604020202020204"/>
                  <a:cs typeface="Arial" panose="020B0604020202020204"/>
                  <a:sym typeface="Arial" panose="020B0604020202020204"/>
                </a:rPr>
                <a:t>CommuniFund</a:t>
              </a:r>
              <a:r>
                <a:rPr lang="en-US" sz="5400" dirty="0">
                  <a:solidFill>
                    <a:srgbClr val="FFFFFF"/>
                  </a:solidFill>
                  <a:latin typeface="Arial" panose="020B0604020202020204"/>
                  <a:ea typeface="Arial" panose="020B0604020202020204"/>
                  <a:cs typeface="Arial" panose="020B0604020202020204"/>
                  <a:sym typeface="Arial" panose="020B0604020202020204"/>
                </a:rPr>
                <a:t> Assistance</a:t>
              </a:r>
            </a:p>
            <a:p>
              <a:pPr>
                <a:lnSpc>
                  <a:spcPts val="5830"/>
                </a:lnSpc>
              </a:pPr>
              <a:r>
                <a:rPr lang="en-US" sz="5400" dirty="0">
                  <a:solidFill>
                    <a:srgbClr val="FFFFFF"/>
                  </a:solidFill>
                  <a:latin typeface="Arial" panose="020B0604020202020204"/>
                  <a:ea typeface="Arial" panose="020B0604020202020204"/>
                  <a:cs typeface="Arial" panose="020B0604020202020204"/>
                  <a:sym typeface="Arial" panose="020B0604020202020204"/>
                </a:rPr>
                <a:t>Risk Assessment </a:t>
              </a:r>
            </a:p>
          </p:txBody>
        </p:sp>
      </p:grpSp>
      <p:grpSp>
        <p:nvGrpSpPr>
          <p:cNvPr id="16" name="Group 16">
            <a:extLst>
              <a:ext uri="{FF2B5EF4-FFF2-40B4-BE49-F238E27FC236}">
                <a16:creationId xmlns:a16="http://schemas.microsoft.com/office/drawing/2014/main" id="{026D7C57-66A8-DA62-BDFB-9C53EF6857AA}"/>
              </a:ext>
            </a:extLst>
          </p:cNvPr>
          <p:cNvGrpSpPr/>
          <p:nvPr/>
        </p:nvGrpSpPr>
        <p:grpSpPr>
          <a:xfrm>
            <a:off x="15835160" y="1630899"/>
            <a:ext cx="2401291" cy="2371973"/>
            <a:chOff x="0" y="0"/>
            <a:chExt cx="3201721" cy="3162630"/>
          </a:xfrm>
        </p:grpSpPr>
        <p:sp>
          <p:nvSpPr>
            <p:cNvPr id="17" name="Freeform 17">
              <a:extLst>
                <a:ext uri="{FF2B5EF4-FFF2-40B4-BE49-F238E27FC236}">
                  <a16:creationId xmlns:a16="http://schemas.microsoft.com/office/drawing/2014/main" id="{496E0660-F974-88B4-9B45-A294FBE7A357}"/>
                </a:ext>
              </a:extLst>
            </p:cNvPr>
            <p:cNvSpPr/>
            <p:nvPr/>
          </p:nvSpPr>
          <p:spPr>
            <a:xfrm>
              <a:off x="0" y="0"/>
              <a:ext cx="3201670" cy="3162681"/>
            </a:xfrm>
            <a:custGeom>
              <a:avLst/>
              <a:gdLst/>
              <a:ahLst/>
              <a:cxnLst/>
              <a:rect l="l" t="t" r="r" b="b"/>
              <a:pathLst>
                <a:path w="3201670" h="3162681">
                  <a:moveTo>
                    <a:pt x="0" y="0"/>
                  </a:moveTo>
                  <a:lnTo>
                    <a:pt x="3201670" y="0"/>
                  </a:lnTo>
                  <a:lnTo>
                    <a:pt x="3201670" y="3162681"/>
                  </a:lnTo>
                  <a:lnTo>
                    <a:pt x="0" y="3162681"/>
                  </a:lnTo>
                  <a:lnTo>
                    <a:pt x="0" y="0"/>
                  </a:lnTo>
                  <a:close/>
                </a:path>
              </a:pathLst>
            </a:custGeom>
            <a:blipFill>
              <a:blip r:embed="rId7"/>
              <a:stretch>
                <a:fillRect r="-1" b="1"/>
              </a:stretch>
            </a:blipFill>
          </p:spPr>
        </p:sp>
      </p:grpSp>
      <p:grpSp>
        <p:nvGrpSpPr>
          <p:cNvPr id="18" name="Group 18">
            <a:extLst>
              <a:ext uri="{FF2B5EF4-FFF2-40B4-BE49-F238E27FC236}">
                <a16:creationId xmlns:a16="http://schemas.microsoft.com/office/drawing/2014/main" id="{305F2645-4B82-6CB7-F584-C4ACD8FB05BD}"/>
              </a:ext>
            </a:extLst>
          </p:cNvPr>
          <p:cNvGrpSpPr/>
          <p:nvPr/>
        </p:nvGrpSpPr>
        <p:grpSpPr>
          <a:xfrm>
            <a:off x="13481580" y="65599"/>
            <a:ext cx="2743400" cy="2743400"/>
            <a:chOff x="0" y="0"/>
            <a:chExt cx="3657867" cy="3657867"/>
          </a:xfrm>
        </p:grpSpPr>
        <p:sp>
          <p:nvSpPr>
            <p:cNvPr id="19" name="Freeform 19">
              <a:extLst>
                <a:ext uri="{FF2B5EF4-FFF2-40B4-BE49-F238E27FC236}">
                  <a16:creationId xmlns:a16="http://schemas.microsoft.com/office/drawing/2014/main" id="{1404AC3A-BBCA-0A85-22DA-7710F0089D02}"/>
                </a:ext>
              </a:extLst>
            </p:cNvPr>
            <p:cNvSpPr/>
            <p:nvPr/>
          </p:nvSpPr>
          <p:spPr>
            <a:xfrm>
              <a:off x="0" y="0"/>
              <a:ext cx="3657854" cy="3657854"/>
            </a:xfrm>
            <a:custGeom>
              <a:avLst/>
              <a:gdLst/>
              <a:ahLst/>
              <a:cxnLst/>
              <a:rect l="l" t="t" r="r" b="b"/>
              <a:pathLst>
                <a:path w="3657854" h="3657854">
                  <a:moveTo>
                    <a:pt x="0" y="0"/>
                  </a:moveTo>
                  <a:lnTo>
                    <a:pt x="3657854" y="0"/>
                  </a:lnTo>
                  <a:lnTo>
                    <a:pt x="3657854" y="3657854"/>
                  </a:lnTo>
                  <a:lnTo>
                    <a:pt x="0" y="3657854"/>
                  </a:lnTo>
                  <a:lnTo>
                    <a:pt x="0" y="0"/>
                  </a:lnTo>
                  <a:close/>
                </a:path>
              </a:pathLst>
            </a:custGeom>
            <a:blipFill>
              <a:blip r:embed="rId8"/>
              <a:stretch>
                <a:fillRect/>
              </a:stretch>
            </a:blipFill>
          </p:spPr>
        </p:sp>
      </p:grpSp>
      <p:sp>
        <p:nvSpPr>
          <p:cNvPr id="20" name="TextBox 20">
            <a:extLst>
              <a:ext uri="{FF2B5EF4-FFF2-40B4-BE49-F238E27FC236}">
                <a16:creationId xmlns:a16="http://schemas.microsoft.com/office/drawing/2014/main" id="{C0597E46-8F22-2D63-48E7-AF2DC82C166E}"/>
              </a:ext>
            </a:extLst>
          </p:cNvPr>
          <p:cNvSpPr txBox="1"/>
          <p:nvPr/>
        </p:nvSpPr>
        <p:spPr>
          <a:xfrm>
            <a:off x="457201" y="3085783"/>
            <a:ext cx="15294292" cy="910699"/>
          </a:xfrm>
          <a:prstGeom prst="rect">
            <a:avLst/>
          </a:prstGeom>
        </p:spPr>
        <p:txBody>
          <a:bodyPr wrap="square" lIns="0" tIns="0" rIns="0" bIns="0" rtlCol="0" anchor="t">
            <a:spAutoFit/>
          </a:bodyPr>
          <a:lstStyle/>
          <a:p>
            <a:pPr lvl="0" algn="just" fontAlgn="base">
              <a:lnSpc>
                <a:spcPct val="150000"/>
              </a:lnSpc>
            </a:pPr>
            <a:endParaRPr lang="en-US" sz="4400" dirty="0"/>
          </a:p>
        </p:txBody>
      </p:sp>
      <p:graphicFrame>
        <p:nvGraphicFramePr>
          <p:cNvPr id="21" name="Table 20">
            <a:extLst>
              <a:ext uri="{FF2B5EF4-FFF2-40B4-BE49-F238E27FC236}">
                <a16:creationId xmlns:a16="http://schemas.microsoft.com/office/drawing/2014/main" id="{4E73C357-2D23-8639-1B7F-394570B913DF}"/>
              </a:ext>
            </a:extLst>
          </p:cNvPr>
          <p:cNvGraphicFramePr>
            <a:graphicFrameLocks noGrp="1"/>
          </p:cNvGraphicFramePr>
          <p:nvPr>
            <p:extLst>
              <p:ext uri="{D42A27DB-BD31-4B8C-83A1-F6EECF244321}">
                <p14:modId xmlns:p14="http://schemas.microsoft.com/office/powerpoint/2010/main" val="3122924844"/>
              </p:ext>
            </p:extLst>
          </p:nvPr>
        </p:nvGraphicFramePr>
        <p:xfrm>
          <a:off x="1020480" y="3556260"/>
          <a:ext cx="14636238" cy="6083039"/>
        </p:xfrm>
        <a:graphic>
          <a:graphicData uri="http://schemas.openxmlformats.org/drawingml/2006/table">
            <a:tbl>
              <a:tblPr/>
              <a:tblGrid>
                <a:gridCol w="4878746">
                  <a:extLst>
                    <a:ext uri="{9D8B030D-6E8A-4147-A177-3AD203B41FA5}">
                      <a16:colId xmlns:a16="http://schemas.microsoft.com/office/drawing/2014/main" val="1610316702"/>
                    </a:ext>
                  </a:extLst>
                </a:gridCol>
                <a:gridCol w="4878746">
                  <a:extLst>
                    <a:ext uri="{9D8B030D-6E8A-4147-A177-3AD203B41FA5}">
                      <a16:colId xmlns:a16="http://schemas.microsoft.com/office/drawing/2014/main" val="152260672"/>
                    </a:ext>
                  </a:extLst>
                </a:gridCol>
                <a:gridCol w="4878746">
                  <a:extLst>
                    <a:ext uri="{9D8B030D-6E8A-4147-A177-3AD203B41FA5}">
                      <a16:colId xmlns:a16="http://schemas.microsoft.com/office/drawing/2014/main" val="2769886469"/>
                    </a:ext>
                  </a:extLst>
                </a:gridCol>
              </a:tblGrid>
              <a:tr h="398620">
                <a:tc>
                  <a:txBody>
                    <a:bodyPr/>
                    <a:lstStyle/>
                    <a:p>
                      <a:pPr marL="0" indent="0" algn="just" fontAlgn="base">
                        <a:lnSpc>
                          <a:spcPts val="2175"/>
                        </a:lnSpc>
                        <a:buNone/>
                      </a:pPr>
                      <a:r>
                        <a:rPr lang="en-US" sz="2200" b="1" i="0">
                          <a:solidFill>
                            <a:srgbClr val="FFFFFF"/>
                          </a:solidFill>
                          <a:effectLst/>
                          <a:latin typeface="Aptos" panose="020B0004020202020204" pitchFamily="34" charset="0"/>
                        </a:rPr>
                        <a:t>Factors​</a:t>
                      </a:r>
                      <a:endParaRPr lang="en-US" sz="2200" b="1" i="0">
                        <a:solidFill>
                          <a:srgbClr val="FFFFFF"/>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tc>
                  <a:txBody>
                    <a:bodyPr/>
                    <a:lstStyle/>
                    <a:p>
                      <a:pPr marL="0" indent="0" algn="just" fontAlgn="base">
                        <a:lnSpc>
                          <a:spcPts val="2175"/>
                        </a:lnSpc>
                        <a:buNone/>
                      </a:pPr>
                      <a:r>
                        <a:rPr lang="en-US" sz="2200" b="0" i="0" u="none" strike="noStrike">
                          <a:solidFill>
                            <a:srgbClr val="FFFFFF"/>
                          </a:solidFill>
                          <a:effectLst/>
                          <a:latin typeface="Aptos" panose="020B0004020202020204" pitchFamily="34" charset="0"/>
                        </a:rPr>
                        <a:t>Rating </a:t>
                      </a:r>
                      <a:r>
                        <a:rPr lang="en-US" sz="2200" b="1" i="0">
                          <a:solidFill>
                            <a:srgbClr val="FFFFFF"/>
                          </a:solidFill>
                          <a:effectLst/>
                          <a:latin typeface="Aptos" panose="020B0004020202020204" pitchFamily="34" charset="0"/>
                        </a:rPr>
                        <a:t>​</a:t>
                      </a:r>
                      <a:endParaRPr lang="en-US" sz="2200" b="1" i="0">
                        <a:solidFill>
                          <a:srgbClr val="FFFFFF"/>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tc>
                  <a:txBody>
                    <a:bodyPr/>
                    <a:lstStyle/>
                    <a:p>
                      <a:pPr marL="0" indent="0" algn="just" fontAlgn="base">
                        <a:lnSpc>
                          <a:spcPts val="2175"/>
                        </a:lnSpc>
                        <a:buNone/>
                      </a:pPr>
                      <a:r>
                        <a:rPr lang="en-US" sz="2200" b="1" i="0">
                          <a:solidFill>
                            <a:srgbClr val="FFFFFF"/>
                          </a:solidFill>
                          <a:effectLst/>
                          <a:latin typeface="Aptos" panose="020B0004020202020204" pitchFamily="34" charset="0"/>
                        </a:rPr>
                        <a:t>Explanation​</a:t>
                      </a:r>
                      <a:endParaRPr lang="en-US" sz="2200" b="1" i="0">
                        <a:solidFill>
                          <a:srgbClr val="FFFFFF"/>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extLst>
                  <a:ext uri="{0D108BD9-81ED-4DB2-BD59-A6C34878D82A}">
                    <a16:rowId xmlns:a16="http://schemas.microsoft.com/office/drawing/2014/main" val="312851037"/>
                  </a:ext>
                </a:extLst>
              </a:tr>
              <a:tr h="1404648">
                <a:tc>
                  <a:txBody>
                    <a:bodyPr/>
                    <a:lstStyle/>
                    <a:p>
                      <a:pPr marL="0" indent="0" algn="just" fontAlgn="base">
                        <a:lnSpc>
                          <a:spcPts val="2175"/>
                        </a:lnSpc>
                        <a:buNone/>
                      </a:pPr>
                      <a:r>
                        <a:rPr lang="en-US" sz="2200" b="0" i="0" u="none" strike="noStrike" dirty="0">
                          <a:solidFill>
                            <a:srgbClr val="000000"/>
                          </a:solidFill>
                          <a:effectLst/>
                          <a:latin typeface="Aptos" panose="020B0004020202020204" pitchFamily="34" charset="0"/>
                        </a:rPr>
                        <a:t>Threat </a:t>
                      </a:r>
                      <a:r>
                        <a:rPr lang="en-US" sz="2200" b="0" i="0" dirty="0">
                          <a:solidFill>
                            <a:srgbClr val="000000"/>
                          </a:solidFill>
                          <a:effectLst/>
                          <a:latin typeface="Aptos" panose="020B0004020202020204" pitchFamily="34" charset="0"/>
                        </a:rPr>
                        <a:t>​</a:t>
                      </a:r>
                      <a:endParaRPr lang="en-US" sz="2200" b="0" i="0" dirty="0">
                        <a:solidFill>
                          <a:srgbClr val="000000"/>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BE8"/>
                    </a:solidFill>
                  </a:tcPr>
                </a:tc>
                <a:tc>
                  <a:txBody>
                    <a:bodyPr/>
                    <a:lstStyle/>
                    <a:p>
                      <a:pPr marL="0" indent="0" algn="just" fontAlgn="base">
                        <a:lnSpc>
                          <a:spcPts val="2175"/>
                        </a:lnSpc>
                        <a:buNone/>
                      </a:pPr>
                      <a:r>
                        <a:rPr lang="en-US" sz="2200" b="0" i="0">
                          <a:solidFill>
                            <a:srgbClr val="000000"/>
                          </a:solidFill>
                          <a:effectLst/>
                          <a:latin typeface="Aptos" panose="020B0004020202020204" pitchFamily="34" charset="0"/>
                        </a:rPr>
                        <a:t>Unauthorized User​</a:t>
                      </a:r>
                      <a:endParaRPr lang="en-US" sz="2200" b="0" i="0">
                        <a:solidFill>
                          <a:srgbClr val="000000"/>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BE8"/>
                    </a:solidFill>
                  </a:tcPr>
                </a:tc>
                <a:tc>
                  <a:txBody>
                    <a:bodyPr/>
                    <a:lstStyle/>
                    <a:p>
                      <a:pPr marL="0" indent="0" algn="just" fontAlgn="base">
                        <a:lnSpc>
                          <a:spcPts val="2175"/>
                        </a:lnSpc>
                        <a:buNone/>
                      </a:pPr>
                      <a:r>
                        <a:rPr lang="en-US" sz="2200" b="0" i="0" u="none" strike="noStrike">
                          <a:solidFill>
                            <a:srgbClr val="000000"/>
                          </a:solidFill>
                          <a:effectLst/>
                          <a:latin typeface="Aptos" panose="020B0004020202020204" pitchFamily="34" charset="0"/>
                        </a:rPr>
                        <a:t>Someone may attempt to gain unauthorized access to applicant or administrator data.</a:t>
                      </a:r>
                      <a:r>
                        <a:rPr lang="en-US" sz="2200" b="0" i="0">
                          <a:solidFill>
                            <a:srgbClr val="000000"/>
                          </a:solidFill>
                          <a:effectLst/>
                          <a:latin typeface="Aptos" panose="020B0004020202020204" pitchFamily="34" charset="0"/>
                        </a:rPr>
                        <a:t>​</a:t>
                      </a:r>
                      <a:endParaRPr lang="en-US" sz="2200" b="0" i="0">
                        <a:solidFill>
                          <a:srgbClr val="000000"/>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BE8"/>
                    </a:solidFill>
                  </a:tcPr>
                </a:tc>
                <a:extLst>
                  <a:ext uri="{0D108BD9-81ED-4DB2-BD59-A6C34878D82A}">
                    <a16:rowId xmlns:a16="http://schemas.microsoft.com/office/drawing/2014/main" val="1990247806"/>
                  </a:ext>
                </a:extLst>
              </a:tr>
              <a:tr h="1181512">
                <a:tc>
                  <a:txBody>
                    <a:bodyPr/>
                    <a:lstStyle/>
                    <a:p>
                      <a:pPr marL="0" indent="0" algn="just" fontAlgn="base">
                        <a:lnSpc>
                          <a:spcPts val="2175"/>
                        </a:lnSpc>
                        <a:buNone/>
                      </a:pPr>
                      <a:r>
                        <a:rPr lang="en-US" sz="2200" b="0" i="0">
                          <a:solidFill>
                            <a:srgbClr val="000000"/>
                          </a:solidFill>
                          <a:effectLst/>
                          <a:latin typeface="Aptos" panose="020B0004020202020204" pitchFamily="34" charset="0"/>
                        </a:rPr>
                        <a:t>Vulnerability​</a:t>
                      </a:r>
                      <a:endParaRPr lang="en-US" sz="2200" b="0" i="0">
                        <a:solidFill>
                          <a:srgbClr val="000000"/>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indent="0" algn="just" fontAlgn="base">
                        <a:lnSpc>
                          <a:spcPts val="2175"/>
                        </a:lnSpc>
                        <a:buNone/>
                      </a:pPr>
                      <a:r>
                        <a:rPr lang="en-US" sz="2200" b="0" i="0">
                          <a:solidFill>
                            <a:srgbClr val="000000"/>
                          </a:solidFill>
                          <a:effectLst/>
                          <a:latin typeface="Aptos" panose="020B0004020202020204" pitchFamily="34" charset="0"/>
                        </a:rPr>
                        <a:t>Security Gap​</a:t>
                      </a:r>
                      <a:endParaRPr lang="en-US" sz="2200" b="0" i="0">
                        <a:solidFill>
                          <a:srgbClr val="000000"/>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indent="0" algn="just" fontAlgn="base">
                        <a:lnSpc>
                          <a:spcPts val="2175"/>
                        </a:lnSpc>
                        <a:buNone/>
                      </a:pPr>
                      <a:r>
                        <a:rPr lang="en-US" sz="2200" b="0" i="0" u="none" strike="noStrike">
                          <a:solidFill>
                            <a:srgbClr val="000000"/>
                          </a:solidFill>
                          <a:effectLst/>
                          <a:latin typeface="Aptos" panose="020B0004020202020204" pitchFamily="34" charset="0"/>
                        </a:rPr>
                        <a:t>Weak security controls may expose sensitive information and system resources.</a:t>
                      </a:r>
                      <a:r>
                        <a:rPr lang="en-US" sz="2200" b="0" i="0">
                          <a:solidFill>
                            <a:srgbClr val="000000"/>
                          </a:solidFill>
                          <a:effectLst/>
                          <a:latin typeface="Aptos" panose="020B0004020202020204" pitchFamily="34" charset="0"/>
                        </a:rPr>
                        <a:t>​</a:t>
                      </a:r>
                      <a:endParaRPr lang="en-US" sz="2200" b="0" i="0">
                        <a:solidFill>
                          <a:srgbClr val="000000"/>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2094202"/>
                  </a:ext>
                </a:extLst>
              </a:tr>
              <a:tr h="1404648">
                <a:tc>
                  <a:txBody>
                    <a:bodyPr/>
                    <a:lstStyle/>
                    <a:p>
                      <a:pPr marL="0" indent="0" algn="just" fontAlgn="base">
                        <a:lnSpc>
                          <a:spcPts val="2175"/>
                        </a:lnSpc>
                        <a:buNone/>
                      </a:pPr>
                      <a:r>
                        <a:rPr lang="en-US" sz="2200" b="0" i="0">
                          <a:solidFill>
                            <a:srgbClr val="000000"/>
                          </a:solidFill>
                          <a:effectLst/>
                          <a:latin typeface="Aptos" panose="020B0004020202020204" pitchFamily="34" charset="0"/>
                        </a:rPr>
                        <a:t>Likelihood​</a:t>
                      </a:r>
                      <a:endParaRPr lang="en-US" sz="2200" b="0" i="0">
                        <a:solidFill>
                          <a:srgbClr val="000000"/>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BE8"/>
                    </a:solidFill>
                  </a:tcPr>
                </a:tc>
                <a:tc>
                  <a:txBody>
                    <a:bodyPr/>
                    <a:lstStyle/>
                    <a:p>
                      <a:pPr marL="0" indent="0" algn="just" fontAlgn="base">
                        <a:lnSpc>
                          <a:spcPts val="2175"/>
                        </a:lnSpc>
                        <a:buNone/>
                      </a:pPr>
                      <a:r>
                        <a:rPr lang="en-US" sz="2200" b="0" i="0">
                          <a:solidFill>
                            <a:srgbClr val="000000"/>
                          </a:solidFill>
                          <a:effectLst/>
                          <a:latin typeface="Aptos" panose="020B0004020202020204" pitchFamily="34" charset="0"/>
                        </a:rPr>
                        <a:t>High​</a:t>
                      </a:r>
                      <a:endParaRPr lang="en-US" sz="2200" b="0" i="0">
                        <a:solidFill>
                          <a:srgbClr val="000000"/>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BE8"/>
                    </a:solidFill>
                  </a:tcPr>
                </a:tc>
                <a:tc>
                  <a:txBody>
                    <a:bodyPr/>
                    <a:lstStyle/>
                    <a:p>
                      <a:pPr marL="0" indent="0" algn="just" fontAlgn="base">
                        <a:lnSpc>
                          <a:spcPts val="2175"/>
                        </a:lnSpc>
                        <a:buNone/>
                      </a:pPr>
                      <a:r>
                        <a:rPr lang="en-US" sz="2200" b="0" i="0" u="none" strike="noStrike" dirty="0">
                          <a:solidFill>
                            <a:srgbClr val="000000"/>
                          </a:solidFill>
                          <a:effectLst/>
                          <a:latin typeface="Aptos" panose="020B0004020202020204" pitchFamily="34" charset="0"/>
                        </a:rPr>
                        <a:t>Identified weaknesses increase the possibility of unauthorized access.</a:t>
                      </a:r>
                      <a:r>
                        <a:rPr lang="en-US" sz="2200" b="0" i="0" dirty="0">
                          <a:solidFill>
                            <a:srgbClr val="000000"/>
                          </a:solidFill>
                          <a:effectLst/>
                          <a:latin typeface="Aptos" panose="020B0004020202020204" pitchFamily="34" charset="0"/>
                        </a:rPr>
                        <a:t>​</a:t>
                      </a:r>
                      <a:endParaRPr lang="en-US" sz="2200" b="0" i="0" dirty="0">
                        <a:solidFill>
                          <a:srgbClr val="000000"/>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BE8"/>
                    </a:solidFill>
                  </a:tcPr>
                </a:tc>
                <a:extLst>
                  <a:ext uri="{0D108BD9-81ED-4DB2-BD59-A6C34878D82A}">
                    <a16:rowId xmlns:a16="http://schemas.microsoft.com/office/drawing/2014/main" val="282202598"/>
                  </a:ext>
                </a:extLst>
              </a:tr>
              <a:tr h="1181512">
                <a:tc>
                  <a:txBody>
                    <a:bodyPr/>
                    <a:lstStyle/>
                    <a:p>
                      <a:pPr marL="0" indent="0" algn="just" fontAlgn="base">
                        <a:lnSpc>
                          <a:spcPts val="2175"/>
                        </a:lnSpc>
                        <a:buNone/>
                      </a:pPr>
                      <a:r>
                        <a:rPr lang="en-US" sz="2200" b="0" i="0">
                          <a:solidFill>
                            <a:srgbClr val="000000"/>
                          </a:solidFill>
                          <a:effectLst/>
                          <a:latin typeface="Aptos" panose="020B0004020202020204" pitchFamily="34" charset="0"/>
                        </a:rPr>
                        <a:t>Impact​</a:t>
                      </a:r>
                      <a:endParaRPr lang="en-US" sz="2200" b="0" i="0">
                        <a:solidFill>
                          <a:srgbClr val="000000"/>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indent="0" algn="just" fontAlgn="base">
                        <a:lnSpc>
                          <a:spcPts val="2175"/>
                        </a:lnSpc>
                        <a:buNone/>
                      </a:pPr>
                      <a:r>
                        <a:rPr lang="en-US" sz="2200" b="0" i="0">
                          <a:solidFill>
                            <a:srgbClr val="000000"/>
                          </a:solidFill>
                          <a:effectLst/>
                          <a:latin typeface="Aptos" panose="020B0004020202020204" pitchFamily="34" charset="0"/>
                        </a:rPr>
                        <a:t>High​</a:t>
                      </a:r>
                      <a:endParaRPr lang="en-US" sz="2200" b="0" i="0">
                        <a:solidFill>
                          <a:srgbClr val="000000"/>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indent="0" algn="just" fontAlgn="base">
                        <a:lnSpc>
                          <a:spcPts val="2175"/>
                        </a:lnSpc>
                        <a:buNone/>
                      </a:pPr>
                      <a:r>
                        <a:rPr lang="en-US" sz="2200" b="0" i="0" u="none" strike="noStrike">
                          <a:solidFill>
                            <a:srgbClr val="000000"/>
                          </a:solidFill>
                          <a:effectLst/>
                          <a:latin typeface="Aptos" panose="020B0004020202020204" pitchFamily="34" charset="0"/>
                        </a:rPr>
                        <a:t>Applicant records, documents, credentials, and personal information could be exposed.</a:t>
                      </a:r>
                      <a:r>
                        <a:rPr lang="en-US" sz="2200" b="0" i="0">
                          <a:solidFill>
                            <a:srgbClr val="000000"/>
                          </a:solidFill>
                          <a:effectLst/>
                          <a:latin typeface="Aptos" panose="020B0004020202020204" pitchFamily="34" charset="0"/>
                        </a:rPr>
                        <a:t>​</a:t>
                      </a:r>
                      <a:endParaRPr lang="en-US" sz="2200" b="0" i="0">
                        <a:solidFill>
                          <a:srgbClr val="000000"/>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43520670"/>
                  </a:ext>
                </a:extLst>
              </a:tr>
              <a:tr h="512099">
                <a:tc>
                  <a:txBody>
                    <a:bodyPr/>
                    <a:lstStyle/>
                    <a:p>
                      <a:pPr marL="0" indent="0" algn="just" fontAlgn="base">
                        <a:lnSpc>
                          <a:spcPts val="2175"/>
                        </a:lnSpc>
                        <a:buNone/>
                      </a:pPr>
                      <a:r>
                        <a:rPr lang="en-US" sz="2200" b="0" i="0">
                          <a:solidFill>
                            <a:srgbClr val="000000"/>
                          </a:solidFill>
                          <a:effectLst/>
                          <a:latin typeface="Aptos" panose="020B0004020202020204" pitchFamily="34" charset="0"/>
                        </a:rPr>
                        <a:t>Risk​</a:t>
                      </a:r>
                      <a:endParaRPr lang="en-US" sz="2200" b="0" i="0">
                        <a:solidFill>
                          <a:srgbClr val="000000"/>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BE8"/>
                    </a:solidFill>
                  </a:tcPr>
                </a:tc>
                <a:tc>
                  <a:txBody>
                    <a:bodyPr/>
                    <a:lstStyle/>
                    <a:p>
                      <a:pPr marL="0" indent="0" algn="just" fontAlgn="base">
                        <a:lnSpc>
                          <a:spcPts val="2175"/>
                        </a:lnSpc>
                        <a:buNone/>
                      </a:pPr>
                      <a:r>
                        <a:rPr lang="en-US" sz="2200" b="0" i="0">
                          <a:solidFill>
                            <a:srgbClr val="000000"/>
                          </a:solidFill>
                          <a:effectLst/>
                          <a:latin typeface="Aptos" panose="020B0004020202020204" pitchFamily="34" charset="0"/>
                        </a:rPr>
                        <a:t>High​</a:t>
                      </a:r>
                      <a:endParaRPr lang="en-US" sz="2200" b="0" i="0">
                        <a:solidFill>
                          <a:srgbClr val="000000"/>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BE8"/>
                    </a:solidFill>
                  </a:tcPr>
                </a:tc>
                <a:tc>
                  <a:txBody>
                    <a:bodyPr/>
                    <a:lstStyle/>
                    <a:p>
                      <a:pPr marL="0" indent="0" algn="just" fontAlgn="base">
                        <a:lnSpc>
                          <a:spcPts val="2175"/>
                        </a:lnSpc>
                        <a:buNone/>
                      </a:pPr>
                      <a:r>
                        <a:rPr lang="en-US" sz="2200" b="0" i="0" u="none" strike="noStrike" dirty="0">
                          <a:solidFill>
                            <a:srgbClr val="000000"/>
                          </a:solidFill>
                          <a:effectLst/>
                          <a:latin typeface="Aptos" panose="020B0004020202020204" pitchFamily="34" charset="0"/>
                        </a:rPr>
                        <a:t>High likelihood × High impact.</a:t>
                      </a:r>
                      <a:r>
                        <a:rPr lang="en-US" sz="2200" b="0" i="0" dirty="0">
                          <a:solidFill>
                            <a:srgbClr val="000000"/>
                          </a:solidFill>
                          <a:effectLst/>
                          <a:latin typeface="Aptos" panose="020B0004020202020204" pitchFamily="34" charset="0"/>
                        </a:rPr>
                        <a:t>​</a:t>
                      </a:r>
                      <a:endParaRPr lang="en-US" sz="2200" b="0" i="0" dirty="0">
                        <a:solidFill>
                          <a:srgbClr val="000000"/>
                        </a:solidFill>
                        <a:effectLst/>
                      </a:endParaRPr>
                    </a:p>
                  </a:txBody>
                  <a:tcPr marL="55331" marR="55331" marT="27666" marB="27666">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BE8"/>
                    </a:solidFill>
                  </a:tcPr>
                </a:tc>
                <a:extLst>
                  <a:ext uri="{0D108BD9-81ED-4DB2-BD59-A6C34878D82A}">
                    <a16:rowId xmlns:a16="http://schemas.microsoft.com/office/drawing/2014/main" val="4043040819"/>
                  </a:ext>
                </a:extLst>
              </a:tr>
            </a:tbl>
          </a:graphicData>
        </a:graphic>
      </p:graphicFrame>
    </p:spTree>
    <p:extLst>
      <p:ext uri="{BB962C8B-B14F-4D97-AF65-F5344CB8AC3E}">
        <p14:creationId xmlns:p14="http://schemas.microsoft.com/office/powerpoint/2010/main" val="3939523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BAF1C-2014-B673-A5D6-C3EA052C8CD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F9A0304-9647-5AEE-00AA-A70BAFC207C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a:extLst>
              <a:ext uri="{FF2B5EF4-FFF2-40B4-BE49-F238E27FC236}">
                <a16:creationId xmlns:a16="http://schemas.microsoft.com/office/drawing/2014/main" id="{F5D6A427-D0FF-4D20-EFEE-E737F7279E23}"/>
              </a:ext>
            </a:extLst>
          </p:cNvPr>
          <p:cNvGrpSpPr/>
          <p:nvPr/>
        </p:nvGrpSpPr>
        <p:grpSpPr>
          <a:xfrm>
            <a:off x="0" y="0"/>
            <a:ext cx="18288000" cy="10287000"/>
            <a:chOff x="0" y="0"/>
            <a:chExt cx="24384000" cy="13716000"/>
          </a:xfrm>
        </p:grpSpPr>
        <p:sp>
          <p:nvSpPr>
            <p:cNvPr id="4" name="Freeform 4" descr="hashOverlay-FullResolve.png">
              <a:extLst>
                <a:ext uri="{FF2B5EF4-FFF2-40B4-BE49-F238E27FC236}">
                  <a16:creationId xmlns:a16="http://schemas.microsoft.com/office/drawing/2014/main" id="{97D12741-E550-BF0C-0C8A-1C45607D961B}"/>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alphaModFix amt="9999"/>
              </a:blip>
              <a:stretch>
                <a:fillRect/>
              </a:stretch>
            </a:blipFill>
          </p:spPr>
        </p:sp>
      </p:grpSp>
      <p:grpSp>
        <p:nvGrpSpPr>
          <p:cNvPr id="5" name="Group 5">
            <a:extLst>
              <a:ext uri="{FF2B5EF4-FFF2-40B4-BE49-F238E27FC236}">
                <a16:creationId xmlns:a16="http://schemas.microsoft.com/office/drawing/2014/main" id="{C1CEAF79-7D75-ABA6-A50E-0CAC468B90F7}"/>
              </a:ext>
            </a:extLst>
          </p:cNvPr>
          <p:cNvGrpSpPr/>
          <p:nvPr/>
        </p:nvGrpSpPr>
        <p:grpSpPr>
          <a:xfrm>
            <a:off x="1" y="2955360"/>
            <a:ext cx="15656719" cy="481746"/>
            <a:chOff x="0" y="0"/>
            <a:chExt cx="20875625" cy="642328"/>
          </a:xfrm>
        </p:grpSpPr>
        <p:sp>
          <p:nvSpPr>
            <p:cNvPr id="6" name="Freeform 6" descr="HD-ShadowLong.png">
              <a:extLst>
                <a:ext uri="{FF2B5EF4-FFF2-40B4-BE49-F238E27FC236}">
                  <a16:creationId xmlns:a16="http://schemas.microsoft.com/office/drawing/2014/main" id="{66EC5B0D-0030-CFA8-B09E-336751EEE186}"/>
                </a:ext>
              </a:extLst>
            </p:cNvPr>
            <p:cNvSpPr/>
            <p:nvPr/>
          </p:nvSpPr>
          <p:spPr>
            <a:xfrm>
              <a:off x="0" y="0"/>
              <a:ext cx="20875625" cy="642366"/>
            </a:xfrm>
            <a:custGeom>
              <a:avLst/>
              <a:gdLst/>
              <a:ahLst/>
              <a:cxnLst/>
              <a:rect l="l" t="t" r="r" b="b"/>
              <a:pathLst>
                <a:path w="20875625" h="642366">
                  <a:moveTo>
                    <a:pt x="0" y="0"/>
                  </a:moveTo>
                  <a:lnTo>
                    <a:pt x="20875625" y="0"/>
                  </a:lnTo>
                  <a:lnTo>
                    <a:pt x="20875625" y="642366"/>
                  </a:lnTo>
                  <a:lnTo>
                    <a:pt x="0" y="642366"/>
                  </a:lnTo>
                  <a:lnTo>
                    <a:pt x="0" y="0"/>
                  </a:lnTo>
                  <a:close/>
                </a:path>
              </a:pathLst>
            </a:custGeom>
            <a:blipFill>
              <a:blip r:embed="rId4"/>
              <a:stretch>
                <a:fillRect b="5"/>
              </a:stretch>
            </a:blipFill>
          </p:spPr>
        </p:sp>
      </p:grpSp>
      <p:grpSp>
        <p:nvGrpSpPr>
          <p:cNvPr id="7" name="Group 7">
            <a:extLst>
              <a:ext uri="{FF2B5EF4-FFF2-40B4-BE49-F238E27FC236}">
                <a16:creationId xmlns:a16="http://schemas.microsoft.com/office/drawing/2014/main" id="{C1C3EE3F-1132-DB81-4C4B-C07486F6BB23}"/>
              </a:ext>
            </a:extLst>
          </p:cNvPr>
          <p:cNvGrpSpPr/>
          <p:nvPr/>
        </p:nvGrpSpPr>
        <p:grpSpPr>
          <a:xfrm>
            <a:off x="15878737" y="2956855"/>
            <a:ext cx="2404491" cy="216408"/>
            <a:chOff x="0" y="0"/>
            <a:chExt cx="3205988" cy="288544"/>
          </a:xfrm>
        </p:grpSpPr>
        <p:sp>
          <p:nvSpPr>
            <p:cNvPr id="8" name="Freeform 8" descr="HD-ShadowShort.png">
              <a:extLst>
                <a:ext uri="{FF2B5EF4-FFF2-40B4-BE49-F238E27FC236}">
                  <a16:creationId xmlns:a16="http://schemas.microsoft.com/office/drawing/2014/main" id="{E0A2D974-22B9-4685-08DB-2C54A3C652A2}"/>
                </a:ext>
              </a:extLst>
            </p:cNvPr>
            <p:cNvSpPr/>
            <p:nvPr/>
          </p:nvSpPr>
          <p:spPr>
            <a:xfrm>
              <a:off x="0" y="0"/>
              <a:ext cx="3205988" cy="288544"/>
            </a:xfrm>
            <a:custGeom>
              <a:avLst/>
              <a:gdLst/>
              <a:ahLst/>
              <a:cxnLst/>
              <a:rect l="l" t="t" r="r" b="b"/>
              <a:pathLst>
                <a:path w="3205988" h="288544">
                  <a:moveTo>
                    <a:pt x="0" y="0"/>
                  </a:moveTo>
                  <a:lnTo>
                    <a:pt x="3205988" y="0"/>
                  </a:lnTo>
                  <a:lnTo>
                    <a:pt x="3205988" y="288544"/>
                  </a:lnTo>
                  <a:lnTo>
                    <a:pt x="0" y="288544"/>
                  </a:lnTo>
                  <a:lnTo>
                    <a:pt x="0" y="0"/>
                  </a:lnTo>
                  <a:close/>
                </a:path>
              </a:pathLst>
            </a:custGeom>
            <a:blipFill>
              <a:blip r:embed="rId5"/>
              <a:stretch>
                <a:fillRect/>
              </a:stretch>
            </a:blipFill>
          </p:spPr>
        </p:sp>
      </p:grpSp>
      <p:grpSp>
        <p:nvGrpSpPr>
          <p:cNvPr id="9" name="Group 9">
            <a:extLst>
              <a:ext uri="{FF2B5EF4-FFF2-40B4-BE49-F238E27FC236}">
                <a16:creationId xmlns:a16="http://schemas.microsoft.com/office/drawing/2014/main" id="{A029E470-3C36-9C75-D6A7-BC09B840EC9A}"/>
              </a:ext>
            </a:extLst>
          </p:cNvPr>
          <p:cNvGrpSpPr/>
          <p:nvPr/>
        </p:nvGrpSpPr>
        <p:grpSpPr>
          <a:xfrm>
            <a:off x="0" y="914400"/>
            <a:ext cx="15656719" cy="2052295"/>
            <a:chOff x="0" y="0"/>
            <a:chExt cx="20875625" cy="2736393"/>
          </a:xfrm>
        </p:grpSpPr>
        <p:sp>
          <p:nvSpPr>
            <p:cNvPr id="10" name="Freeform 10">
              <a:extLst>
                <a:ext uri="{FF2B5EF4-FFF2-40B4-BE49-F238E27FC236}">
                  <a16:creationId xmlns:a16="http://schemas.microsoft.com/office/drawing/2014/main" id="{55522960-B867-CF5F-9CEB-31CE1CA11191}"/>
                </a:ext>
              </a:extLst>
            </p:cNvPr>
            <p:cNvSpPr/>
            <p:nvPr/>
          </p:nvSpPr>
          <p:spPr>
            <a:xfrm>
              <a:off x="0" y="0"/>
              <a:ext cx="20875625" cy="2736342"/>
            </a:xfrm>
            <a:custGeom>
              <a:avLst/>
              <a:gdLst/>
              <a:ahLst/>
              <a:cxnLst/>
              <a:rect l="l" t="t" r="r" b="b"/>
              <a:pathLst>
                <a:path w="20875625" h="2736342">
                  <a:moveTo>
                    <a:pt x="0" y="0"/>
                  </a:moveTo>
                  <a:lnTo>
                    <a:pt x="20875625" y="0"/>
                  </a:lnTo>
                  <a:lnTo>
                    <a:pt x="20875625" y="2736342"/>
                  </a:lnTo>
                  <a:lnTo>
                    <a:pt x="0" y="2736342"/>
                  </a:lnTo>
                  <a:close/>
                </a:path>
              </a:pathLst>
            </a:custGeom>
            <a:solidFill>
              <a:srgbClr val="262626"/>
            </a:solidFill>
          </p:spPr>
        </p:sp>
      </p:grpSp>
      <p:grpSp>
        <p:nvGrpSpPr>
          <p:cNvPr id="11" name="Group 11">
            <a:extLst>
              <a:ext uri="{FF2B5EF4-FFF2-40B4-BE49-F238E27FC236}">
                <a16:creationId xmlns:a16="http://schemas.microsoft.com/office/drawing/2014/main" id="{F0A020D6-8765-ACD2-C505-C845F12F4AFA}"/>
              </a:ext>
            </a:extLst>
          </p:cNvPr>
          <p:cNvGrpSpPr/>
          <p:nvPr/>
        </p:nvGrpSpPr>
        <p:grpSpPr>
          <a:xfrm>
            <a:off x="15878737" y="914400"/>
            <a:ext cx="2404491" cy="2052295"/>
            <a:chOff x="0" y="0"/>
            <a:chExt cx="3205988" cy="2736393"/>
          </a:xfrm>
        </p:grpSpPr>
        <p:sp>
          <p:nvSpPr>
            <p:cNvPr id="12" name="Freeform 12">
              <a:extLst>
                <a:ext uri="{FF2B5EF4-FFF2-40B4-BE49-F238E27FC236}">
                  <a16:creationId xmlns:a16="http://schemas.microsoft.com/office/drawing/2014/main" id="{A94B92B7-0649-15B7-C705-B4109581B518}"/>
                </a:ext>
              </a:extLst>
            </p:cNvPr>
            <p:cNvSpPr/>
            <p:nvPr/>
          </p:nvSpPr>
          <p:spPr>
            <a:xfrm>
              <a:off x="0" y="0"/>
              <a:ext cx="3205988" cy="2736342"/>
            </a:xfrm>
            <a:custGeom>
              <a:avLst/>
              <a:gdLst/>
              <a:ahLst/>
              <a:cxnLst/>
              <a:rect l="l" t="t" r="r" b="b"/>
              <a:pathLst>
                <a:path w="3205988" h="2736342">
                  <a:moveTo>
                    <a:pt x="0" y="0"/>
                  </a:moveTo>
                  <a:lnTo>
                    <a:pt x="3205988" y="0"/>
                  </a:lnTo>
                  <a:lnTo>
                    <a:pt x="3205988" y="2736342"/>
                  </a:lnTo>
                  <a:lnTo>
                    <a:pt x="0" y="2736342"/>
                  </a:lnTo>
                  <a:close/>
                </a:path>
              </a:pathLst>
            </a:custGeom>
            <a:solidFill>
              <a:srgbClr val="A7D535"/>
            </a:solidFill>
          </p:spPr>
        </p:sp>
      </p:grpSp>
      <p:grpSp>
        <p:nvGrpSpPr>
          <p:cNvPr id="13" name="Group 13">
            <a:extLst>
              <a:ext uri="{FF2B5EF4-FFF2-40B4-BE49-F238E27FC236}">
                <a16:creationId xmlns:a16="http://schemas.microsoft.com/office/drawing/2014/main" id="{4DBA2BE7-7696-441D-3745-95CFA36701EF}"/>
              </a:ext>
            </a:extLst>
          </p:cNvPr>
          <p:cNvGrpSpPr/>
          <p:nvPr/>
        </p:nvGrpSpPr>
        <p:grpSpPr>
          <a:xfrm>
            <a:off x="1020480" y="1129846"/>
            <a:ext cx="14420793" cy="1621403"/>
            <a:chOff x="0" y="0"/>
            <a:chExt cx="19227724" cy="2161870"/>
          </a:xfrm>
        </p:grpSpPr>
        <p:sp>
          <p:nvSpPr>
            <p:cNvPr id="14" name="Freeform 14">
              <a:extLst>
                <a:ext uri="{FF2B5EF4-FFF2-40B4-BE49-F238E27FC236}">
                  <a16:creationId xmlns:a16="http://schemas.microsoft.com/office/drawing/2014/main" id="{B7E2B909-B690-F71B-66AC-701035B9744C}"/>
                </a:ext>
              </a:extLst>
            </p:cNvPr>
            <p:cNvSpPr/>
            <p:nvPr/>
          </p:nvSpPr>
          <p:spPr>
            <a:xfrm>
              <a:off x="0" y="0"/>
              <a:ext cx="19227722" cy="2161876"/>
            </a:xfrm>
            <a:custGeom>
              <a:avLst/>
              <a:gdLst/>
              <a:ahLst/>
              <a:cxnLst/>
              <a:rect l="l" t="t" r="r" b="b"/>
              <a:pathLst>
                <a:path w="19227722" h="2161876">
                  <a:moveTo>
                    <a:pt x="0" y="0"/>
                  </a:moveTo>
                  <a:lnTo>
                    <a:pt x="19227722" y="0"/>
                  </a:lnTo>
                  <a:lnTo>
                    <a:pt x="19227722" y="2161876"/>
                  </a:lnTo>
                  <a:lnTo>
                    <a:pt x="0" y="2161876"/>
                  </a:lnTo>
                  <a:close/>
                </a:path>
              </a:pathLst>
            </a:custGeom>
            <a:blipFill>
              <a:blip r:embed="rId6">
                <a:alphaModFix amt="0"/>
              </a:blip>
              <a:stretch>
                <a:fillRect t="-123300" b="-123299"/>
              </a:stretch>
            </a:blipFill>
          </p:spPr>
        </p:sp>
        <p:sp>
          <p:nvSpPr>
            <p:cNvPr id="15" name="TextBox 15">
              <a:extLst>
                <a:ext uri="{FF2B5EF4-FFF2-40B4-BE49-F238E27FC236}">
                  <a16:creationId xmlns:a16="http://schemas.microsoft.com/office/drawing/2014/main" id="{800E6EF9-291C-EA91-58E4-96A5B4D11ACF}"/>
                </a:ext>
              </a:extLst>
            </p:cNvPr>
            <p:cNvSpPr txBox="1"/>
            <p:nvPr/>
          </p:nvSpPr>
          <p:spPr>
            <a:xfrm>
              <a:off x="0" y="28575"/>
              <a:ext cx="19227724" cy="2133295"/>
            </a:xfrm>
            <a:prstGeom prst="rect">
              <a:avLst/>
            </a:prstGeom>
          </p:spPr>
          <p:txBody>
            <a:bodyPr lIns="0" tIns="0" rIns="0" bIns="0" rtlCol="0" anchor="ctr"/>
            <a:lstStyle/>
            <a:p>
              <a:pPr algn="l">
                <a:lnSpc>
                  <a:spcPts val="5830"/>
                </a:lnSpc>
              </a:pPr>
              <a:r>
                <a:rPr lang="en-US" sz="5400" dirty="0">
                  <a:solidFill>
                    <a:srgbClr val="FFFFFF"/>
                  </a:solidFill>
                  <a:latin typeface="Arial" panose="020B0604020202020204"/>
                  <a:ea typeface="Arial" panose="020B0604020202020204"/>
                  <a:cs typeface="Arial" panose="020B0604020202020204"/>
                  <a:sym typeface="Arial" panose="020B0604020202020204"/>
                </a:rPr>
                <a:t>Security Gap Analysis</a:t>
              </a:r>
            </a:p>
          </p:txBody>
        </p:sp>
      </p:grpSp>
      <p:grpSp>
        <p:nvGrpSpPr>
          <p:cNvPr id="16" name="Group 16">
            <a:extLst>
              <a:ext uri="{FF2B5EF4-FFF2-40B4-BE49-F238E27FC236}">
                <a16:creationId xmlns:a16="http://schemas.microsoft.com/office/drawing/2014/main" id="{E4239AE8-CA10-7A7C-F02D-F0B36329FC21}"/>
              </a:ext>
            </a:extLst>
          </p:cNvPr>
          <p:cNvGrpSpPr/>
          <p:nvPr/>
        </p:nvGrpSpPr>
        <p:grpSpPr>
          <a:xfrm>
            <a:off x="15835160" y="1630899"/>
            <a:ext cx="2401291" cy="2371973"/>
            <a:chOff x="0" y="0"/>
            <a:chExt cx="3201721" cy="3162630"/>
          </a:xfrm>
        </p:grpSpPr>
        <p:sp>
          <p:nvSpPr>
            <p:cNvPr id="17" name="Freeform 17">
              <a:extLst>
                <a:ext uri="{FF2B5EF4-FFF2-40B4-BE49-F238E27FC236}">
                  <a16:creationId xmlns:a16="http://schemas.microsoft.com/office/drawing/2014/main" id="{07B06AED-8BB4-FC77-A6E7-5B92D0446142}"/>
                </a:ext>
              </a:extLst>
            </p:cNvPr>
            <p:cNvSpPr/>
            <p:nvPr/>
          </p:nvSpPr>
          <p:spPr>
            <a:xfrm>
              <a:off x="0" y="0"/>
              <a:ext cx="3201670" cy="3162681"/>
            </a:xfrm>
            <a:custGeom>
              <a:avLst/>
              <a:gdLst/>
              <a:ahLst/>
              <a:cxnLst/>
              <a:rect l="l" t="t" r="r" b="b"/>
              <a:pathLst>
                <a:path w="3201670" h="3162681">
                  <a:moveTo>
                    <a:pt x="0" y="0"/>
                  </a:moveTo>
                  <a:lnTo>
                    <a:pt x="3201670" y="0"/>
                  </a:lnTo>
                  <a:lnTo>
                    <a:pt x="3201670" y="3162681"/>
                  </a:lnTo>
                  <a:lnTo>
                    <a:pt x="0" y="3162681"/>
                  </a:lnTo>
                  <a:lnTo>
                    <a:pt x="0" y="0"/>
                  </a:lnTo>
                  <a:close/>
                </a:path>
              </a:pathLst>
            </a:custGeom>
            <a:blipFill>
              <a:blip r:embed="rId7"/>
              <a:stretch>
                <a:fillRect r="-1" b="1"/>
              </a:stretch>
            </a:blipFill>
          </p:spPr>
        </p:sp>
      </p:grpSp>
      <p:grpSp>
        <p:nvGrpSpPr>
          <p:cNvPr id="18" name="Group 18">
            <a:extLst>
              <a:ext uri="{FF2B5EF4-FFF2-40B4-BE49-F238E27FC236}">
                <a16:creationId xmlns:a16="http://schemas.microsoft.com/office/drawing/2014/main" id="{A4ADFD0C-9ADD-E5AC-A780-CC1CFA2B65C7}"/>
              </a:ext>
            </a:extLst>
          </p:cNvPr>
          <p:cNvGrpSpPr/>
          <p:nvPr/>
        </p:nvGrpSpPr>
        <p:grpSpPr>
          <a:xfrm>
            <a:off x="13481580" y="65599"/>
            <a:ext cx="2743400" cy="2743400"/>
            <a:chOff x="0" y="0"/>
            <a:chExt cx="3657867" cy="3657867"/>
          </a:xfrm>
        </p:grpSpPr>
        <p:sp>
          <p:nvSpPr>
            <p:cNvPr id="19" name="Freeform 19">
              <a:extLst>
                <a:ext uri="{FF2B5EF4-FFF2-40B4-BE49-F238E27FC236}">
                  <a16:creationId xmlns:a16="http://schemas.microsoft.com/office/drawing/2014/main" id="{B3D494D6-08C9-9D15-9A74-6DEEF41A009F}"/>
                </a:ext>
              </a:extLst>
            </p:cNvPr>
            <p:cNvSpPr/>
            <p:nvPr/>
          </p:nvSpPr>
          <p:spPr>
            <a:xfrm>
              <a:off x="0" y="0"/>
              <a:ext cx="3657854" cy="3657854"/>
            </a:xfrm>
            <a:custGeom>
              <a:avLst/>
              <a:gdLst/>
              <a:ahLst/>
              <a:cxnLst/>
              <a:rect l="l" t="t" r="r" b="b"/>
              <a:pathLst>
                <a:path w="3657854" h="3657854">
                  <a:moveTo>
                    <a:pt x="0" y="0"/>
                  </a:moveTo>
                  <a:lnTo>
                    <a:pt x="3657854" y="0"/>
                  </a:lnTo>
                  <a:lnTo>
                    <a:pt x="3657854" y="3657854"/>
                  </a:lnTo>
                  <a:lnTo>
                    <a:pt x="0" y="3657854"/>
                  </a:lnTo>
                  <a:lnTo>
                    <a:pt x="0" y="0"/>
                  </a:lnTo>
                  <a:close/>
                </a:path>
              </a:pathLst>
            </a:custGeom>
            <a:blipFill>
              <a:blip r:embed="rId8"/>
              <a:stretch>
                <a:fillRect/>
              </a:stretch>
            </a:blipFill>
          </p:spPr>
        </p:sp>
      </p:grpSp>
      <p:sp>
        <p:nvSpPr>
          <p:cNvPr id="20" name="TextBox 20">
            <a:extLst>
              <a:ext uri="{FF2B5EF4-FFF2-40B4-BE49-F238E27FC236}">
                <a16:creationId xmlns:a16="http://schemas.microsoft.com/office/drawing/2014/main" id="{279F1EC2-F7A6-2EE1-5132-6ADD6C903A50}"/>
              </a:ext>
            </a:extLst>
          </p:cNvPr>
          <p:cNvSpPr txBox="1"/>
          <p:nvPr/>
        </p:nvSpPr>
        <p:spPr>
          <a:xfrm>
            <a:off x="457201" y="3085783"/>
            <a:ext cx="15294292" cy="8048998"/>
          </a:xfrm>
          <a:prstGeom prst="rect">
            <a:avLst/>
          </a:prstGeom>
        </p:spPr>
        <p:txBody>
          <a:bodyPr wrap="square" lIns="0" tIns="0" rIns="0" bIns="0" rtlCol="0" anchor="t">
            <a:spAutoFit/>
          </a:bodyPr>
          <a:lstStyle/>
          <a:p>
            <a:pPr lvl="0" algn="just" fontAlgn="base">
              <a:lnSpc>
                <a:spcPct val="150000"/>
              </a:lnSpc>
            </a:pPr>
            <a:r>
              <a:rPr lang="en-US" sz="3200" b="1" dirty="0"/>
              <a:t>Overall Security Risk – Medium:</a:t>
            </a:r>
            <a:r>
              <a:rPr lang="en-US" sz="3200" dirty="0"/>
              <a:t> Application-level security has improved, but operational and architectural risks remain. ​</a:t>
            </a:r>
          </a:p>
          <a:p>
            <a:pPr lvl="0" algn="just" fontAlgn="base">
              <a:lnSpc>
                <a:spcPct val="150000"/>
              </a:lnSpc>
            </a:pPr>
            <a:r>
              <a:rPr lang="en-US" sz="3200" b="1" dirty="0"/>
              <a:t>SQL Backups in Git – Critical:</a:t>
            </a:r>
            <a:r>
              <a:rPr lang="en-US" sz="3200" dirty="0"/>
              <a:t> Database backup files may expose personal information, password hashes, and credentials if repository access is compromised. ​</a:t>
            </a:r>
          </a:p>
          <a:p>
            <a:pPr lvl="0" algn="just" fontAlgn="base">
              <a:lnSpc>
                <a:spcPct val="150000"/>
              </a:lnSpc>
            </a:pPr>
            <a:r>
              <a:rPr lang="en-US" sz="3200" b="1" dirty="0"/>
              <a:t>Administrator MFA – High:</a:t>
            </a:r>
            <a:r>
              <a:rPr lang="en-US" sz="3200" dirty="0"/>
              <a:t> Administrator accounts rely on passwords without an additional authentication factor. ​</a:t>
            </a:r>
          </a:p>
          <a:p>
            <a:pPr lvl="0" algn="just" fontAlgn="base">
              <a:lnSpc>
                <a:spcPct val="150000"/>
              </a:lnSpc>
            </a:pPr>
            <a:r>
              <a:rPr lang="en-US" sz="3200" b="1" dirty="0"/>
              <a:t>Web Server Exposure – High:</a:t>
            </a:r>
            <a:r>
              <a:rPr lang="en-US" sz="3200" dirty="0"/>
              <a:t> Incorrectly exposing the project root instead of the public/ directory could make sensitive application files accessible. ​</a:t>
            </a:r>
          </a:p>
          <a:p>
            <a:pPr lvl="0" algn="just" fontAlgn="base">
              <a:lnSpc>
                <a:spcPct val="150000"/>
              </a:lnSpc>
            </a:pPr>
            <a:r>
              <a:rPr lang="en-US" sz="3200" b="1" dirty="0"/>
              <a:t>Legacy Upload Protection – High:</a:t>
            </a:r>
            <a:r>
              <a:rPr lang="en-US" sz="3200" dirty="0"/>
              <a:t> Non-Apache servers require explicit configuration to prevent direct access to protected upload directories. ​</a:t>
            </a:r>
          </a:p>
          <a:p>
            <a:pPr algn="just" fontAlgn="base">
              <a:lnSpc>
                <a:spcPct val="150000"/>
              </a:lnSpc>
            </a:pPr>
            <a:r>
              <a:rPr lang="en-US" sz="3200" dirty="0"/>
              <a:t>​</a:t>
            </a:r>
          </a:p>
        </p:txBody>
      </p:sp>
    </p:spTree>
    <p:extLst>
      <p:ext uri="{BB962C8B-B14F-4D97-AF65-F5344CB8AC3E}">
        <p14:creationId xmlns:p14="http://schemas.microsoft.com/office/powerpoint/2010/main" val="3795632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E834B-F7BF-9C7A-966B-A773FB79055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11CB3C1-B0FB-8450-DFCC-A0CDAE9B88C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a:extLst>
              <a:ext uri="{FF2B5EF4-FFF2-40B4-BE49-F238E27FC236}">
                <a16:creationId xmlns:a16="http://schemas.microsoft.com/office/drawing/2014/main" id="{16BB4E77-AC4A-5AAE-1BC3-73F45DAEE5AE}"/>
              </a:ext>
            </a:extLst>
          </p:cNvPr>
          <p:cNvGrpSpPr/>
          <p:nvPr/>
        </p:nvGrpSpPr>
        <p:grpSpPr>
          <a:xfrm>
            <a:off x="0" y="0"/>
            <a:ext cx="18288000" cy="10287000"/>
            <a:chOff x="0" y="0"/>
            <a:chExt cx="24384000" cy="13716000"/>
          </a:xfrm>
        </p:grpSpPr>
        <p:sp>
          <p:nvSpPr>
            <p:cNvPr id="4" name="Freeform 4" descr="hashOverlay-FullResolve.png">
              <a:extLst>
                <a:ext uri="{FF2B5EF4-FFF2-40B4-BE49-F238E27FC236}">
                  <a16:creationId xmlns:a16="http://schemas.microsoft.com/office/drawing/2014/main" id="{656AB86C-624A-A37C-DD83-DC589E6AC90E}"/>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alphaModFix amt="9999"/>
              </a:blip>
              <a:stretch>
                <a:fillRect/>
              </a:stretch>
            </a:blipFill>
          </p:spPr>
        </p:sp>
      </p:grpSp>
      <p:grpSp>
        <p:nvGrpSpPr>
          <p:cNvPr id="5" name="Group 5">
            <a:extLst>
              <a:ext uri="{FF2B5EF4-FFF2-40B4-BE49-F238E27FC236}">
                <a16:creationId xmlns:a16="http://schemas.microsoft.com/office/drawing/2014/main" id="{F540D9B4-9EB1-6008-6AF2-8F055AD332DA}"/>
              </a:ext>
            </a:extLst>
          </p:cNvPr>
          <p:cNvGrpSpPr/>
          <p:nvPr/>
        </p:nvGrpSpPr>
        <p:grpSpPr>
          <a:xfrm>
            <a:off x="1" y="2955360"/>
            <a:ext cx="15656719" cy="481746"/>
            <a:chOff x="0" y="0"/>
            <a:chExt cx="20875625" cy="642328"/>
          </a:xfrm>
        </p:grpSpPr>
        <p:sp>
          <p:nvSpPr>
            <p:cNvPr id="6" name="Freeform 6" descr="HD-ShadowLong.png">
              <a:extLst>
                <a:ext uri="{FF2B5EF4-FFF2-40B4-BE49-F238E27FC236}">
                  <a16:creationId xmlns:a16="http://schemas.microsoft.com/office/drawing/2014/main" id="{A71B3698-277F-B38E-847D-5710BF12E629}"/>
                </a:ext>
              </a:extLst>
            </p:cNvPr>
            <p:cNvSpPr/>
            <p:nvPr/>
          </p:nvSpPr>
          <p:spPr>
            <a:xfrm>
              <a:off x="0" y="0"/>
              <a:ext cx="20875625" cy="642366"/>
            </a:xfrm>
            <a:custGeom>
              <a:avLst/>
              <a:gdLst/>
              <a:ahLst/>
              <a:cxnLst/>
              <a:rect l="l" t="t" r="r" b="b"/>
              <a:pathLst>
                <a:path w="20875625" h="642366">
                  <a:moveTo>
                    <a:pt x="0" y="0"/>
                  </a:moveTo>
                  <a:lnTo>
                    <a:pt x="20875625" y="0"/>
                  </a:lnTo>
                  <a:lnTo>
                    <a:pt x="20875625" y="642366"/>
                  </a:lnTo>
                  <a:lnTo>
                    <a:pt x="0" y="642366"/>
                  </a:lnTo>
                  <a:lnTo>
                    <a:pt x="0" y="0"/>
                  </a:lnTo>
                  <a:close/>
                </a:path>
              </a:pathLst>
            </a:custGeom>
            <a:blipFill>
              <a:blip r:embed="rId4"/>
              <a:stretch>
                <a:fillRect b="5"/>
              </a:stretch>
            </a:blipFill>
          </p:spPr>
        </p:sp>
      </p:grpSp>
      <p:grpSp>
        <p:nvGrpSpPr>
          <p:cNvPr id="7" name="Group 7">
            <a:extLst>
              <a:ext uri="{FF2B5EF4-FFF2-40B4-BE49-F238E27FC236}">
                <a16:creationId xmlns:a16="http://schemas.microsoft.com/office/drawing/2014/main" id="{5C367C61-0959-9B72-8475-A920701DD57E}"/>
              </a:ext>
            </a:extLst>
          </p:cNvPr>
          <p:cNvGrpSpPr/>
          <p:nvPr/>
        </p:nvGrpSpPr>
        <p:grpSpPr>
          <a:xfrm>
            <a:off x="15878737" y="2956855"/>
            <a:ext cx="2404491" cy="216408"/>
            <a:chOff x="0" y="0"/>
            <a:chExt cx="3205988" cy="288544"/>
          </a:xfrm>
        </p:grpSpPr>
        <p:sp>
          <p:nvSpPr>
            <p:cNvPr id="8" name="Freeform 8" descr="HD-ShadowShort.png">
              <a:extLst>
                <a:ext uri="{FF2B5EF4-FFF2-40B4-BE49-F238E27FC236}">
                  <a16:creationId xmlns:a16="http://schemas.microsoft.com/office/drawing/2014/main" id="{D1A7AABF-D745-2007-6D4E-A3C5031F093E}"/>
                </a:ext>
              </a:extLst>
            </p:cNvPr>
            <p:cNvSpPr/>
            <p:nvPr/>
          </p:nvSpPr>
          <p:spPr>
            <a:xfrm>
              <a:off x="0" y="0"/>
              <a:ext cx="3205988" cy="288544"/>
            </a:xfrm>
            <a:custGeom>
              <a:avLst/>
              <a:gdLst/>
              <a:ahLst/>
              <a:cxnLst/>
              <a:rect l="l" t="t" r="r" b="b"/>
              <a:pathLst>
                <a:path w="3205988" h="288544">
                  <a:moveTo>
                    <a:pt x="0" y="0"/>
                  </a:moveTo>
                  <a:lnTo>
                    <a:pt x="3205988" y="0"/>
                  </a:lnTo>
                  <a:lnTo>
                    <a:pt x="3205988" y="288544"/>
                  </a:lnTo>
                  <a:lnTo>
                    <a:pt x="0" y="288544"/>
                  </a:lnTo>
                  <a:lnTo>
                    <a:pt x="0" y="0"/>
                  </a:lnTo>
                  <a:close/>
                </a:path>
              </a:pathLst>
            </a:custGeom>
            <a:blipFill>
              <a:blip r:embed="rId5"/>
              <a:stretch>
                <a:fillRect/>
              </a:stretch>
            </a:blipFill>
          </p:spPr>
        </p:sp>
      </p:grpSp>
      <p:grpSp>
        <p:nvGrpSpPr>
          <p:cNvPr id="9" name="Group 9">
            <a:extLst>
              <a:ext uri="{FF2B5EF4-FFF2-40B4-BE49-F238E27FC236}">
                <a16:creationId xmlns:a16="http://schemas.microsoft.com/office/drawing/2014/main" id="{F1900D55-CBD9-0D69-A600-FC1FF648A7DA}"/>
              </a:ext>
            </a:extLst>
          </p:cNvPr>
          <p:cNvGrpSpPr/>
          <p:nvPr/>
        </p:nvGrpSpPr>
        <p:grpSpPr>
          <a:xfrm>
            <a:off x="0" y="914400"/>
            <a:ext cx="15656719" cy="2052295"/>
            <a:chOff x="0" y="0"/>
            <a:chExt cx="20875625" cy="2736393"/>
          </a:xfrm>
        </p:grpSpPr>
        <p:sp>
          <p:nvSpPr>
            <p:cNvPr id="10" name="Freeform 10">
              <a:extLst>
                <a:ext uri="{FF2B5EF4-FFF2-40B4-BE49-F238E27FC236}">
                  <a16:creationId xmlns:a16="http://schemas.microsoft.com/office/drawing/2014/main" id="{5E81A6C5-2792-CB34-04B3-2465C8CB80AB}"/>
                </a:ext>
              </a:extLst>
            </p:cNvPr>
            <p:cNvSpPr/>
            <p:nvPr/>
          </p:nvSpPr>
          <p:spPr>
            <a:xfrm>
              <a:off x="0" y="0"/>
              <a:ext cx="20875625" cy="2736342"/>
            </a:xfrm>
            <a:custGeom>
              <a:avLst/>
              <a:gdLst/>
              <a:ahLst/>
              <a:cxnLst/>
              <a:rect l="l" t="t" r="r" b="b"/>
              <a:pathLst>
                <a:path w="20875625" h="2736342">
                  <a:moveTo>
                    <a:pt x="0" y="0"/>
                  </a:moveTo>
                  <a:lnTo>
                    <a:pt x="20875625" y="0"/>
                  </a:lnTo>
                  <a:lnTo>
                    <a:pt x="20875625" y="2736342"/>
                  </a:lnTo>
                  <a:lnTo>
                    <a:pt x="0" y="2736342"/>
                  </a:lnTo>
                  <a:close/>
                </a:path>
              </a:pathLst>
            </a:custGeom>
            <a:solidFill>
              <a:srgbClr val="262626"/>
            </a:solidFill>
          </p:spPr>
        </p:sp>
      </p:grpSp>
      <p:grpSp>
        <p:nvGrpSpPr>
          <p:cNvPr id="11" name="Group 11">
            <a:extLst>
              <a:ext uri="{FF2B5EF4-FFF2-40B4-BE49-F238E27FC236}">
                <a16:creationId xmlns:a16="http://schemas.microsoft.com/office/drawing/2014/main" id="{BDE234DD-9C8F-CDE5-81F2-381BF8DD1A34}"/>
              </a:ext>
            </a:extLst>
          </p:cNvPr>
          <p:cNvGrpSpPr/>
          <p:nvPr/>
        </p:nvGrpSpPr>
        <p:grpSpPr>
          <a:xfrm>
            <a:off x="15878737" y="914400"/>
            <a:ext cx="2404491" cy="2052295"/>
            <a:chOff x="0" y="0"/>
            <a:chExt cx="3205988" cy="2736393"/>
          </a:xfrm>
        </p:grpSpPr>
        <p:sp>
          <p:nvSpPr>
            <p:cNvPr id="12" name="Freeform 12">
              <a:extLst>
                <a:ext uri="{FF2B5EF4-FFF2-40B4-BE49-F238E27FC236}">
                  <a16:creationId xmlns:a16="http://schemas.microsoft.com/office/drawing/2014/main" id="{5F55F6B0-34F2-2AB7-088A-CD35C7C122F3}"/>
                </a:ext>
              </a:extLst>
            </p:cNvPr>
            <p:cNvSpPr/>
            <p:nvPr/>
          </p:nvSpPr>
          <p:spPr>
            <a:xfrm>
              <a:off x="0" y="0"/>
              <a:ext cx="3205988" cy="2736342"/>
            </a:xfrm>
            <a:custGeom>
              <a:avLst/>
              <a:gdLst/>
              <a:ahLst/>
              <a:cxnLst/>
              <a:rect l="l" t="t" r="r" b="b"/>
              <a:pathLst>
                <a:path w="3205988" h="2736342">
                  <a:moveTo>
                    <a:pt x="0" y="0"/>
                  </a:moveTo>
                  <a:lnTo>
                    <a:pt x="3205988" y="0"/>
                  </a:lnTo>
                  <a:lnTo>
                    <a:pt x="3205988" y="2736342"/>
                  </a:lnTo>
                  <a:lnTo>
                    <a:pt x="0" y="2736342"/>
                  </a:lnTo>
                  <a:close/>
                </a:path>
              </a:pathLst>
            </a:custGeom>
            <a:solidFill>
              <a:srgbClr val="A7D535"/>
            </a:solidFill>
          </p:spPr>
        </p:sp>
      </p:grpSp>
      <p:grpSp>
        <p:nvGrpSpPr>
          <p:cNvPr id="13" name="Group 13">
            <a:extLst>
              <a:ext uri="{FF2B5EF4-FFF2-40B4-BE49-F238E27FC236}">
                <a16:creationId xmlns:a16="http://schemas.microsoft.com/office/drawing/2014/main" id="{BCEF84EF-DED6-5ACB-ED5D-D0223FC65957}"/>
              </a:ext>
            </a:extLst>
          </p:cNvPr>
          <p:cNvGrpSpPr/>
          <p:nvPr/>
        </p:nvGrpSpPr>
        <p:grpSpPr>
          <a:xfrm>
            <a:off x="1020480" y="1129846"/>
            <a:ext cx="14420793" cy="1621403"/>
            <a:chOff x="0" y="0"/>
            <a:chExt cx="19227724" cy="2161870"/>
          </a:xfrm>
        </p:grpSpPr>
        <p:sp>
          <p:nvSpPr>
            <p:cNvPr id="14" name="Freeform 14">
              <a:extLst>
                <a:ext uri="{FF2B5EF4-FFF2-40B4-BE49-F238E27FC236}">
                  <a16:creationId xmlns:a16="http://schemas.microsoft.com/office/drawing/2014/main" id="{3E297EA5-51D8-7741-F46F-9BB9C3C4F61D}"/>
                </a:ext>
              </a:extLst>
            </p:cNvPr>
            <p:cNvSpPr/>
            <p:nvPr/>
          </p:nvSpPr>
          <p:spPr>
            <a:xfrm>
              <a:off x="0" y="0"/>
              <a:ext cx="19227722" cy="2161876"/>
            </a:xfrm>
            <a:custGeom>
              <a:avLst/>
              <a:gdLst/>
              <a:ahLst/>
              <a:cxnLst/>
              <a:rect l="l" t="t" r="r" b="b"/>
              <a:pathLst>
                <a:path w="19227722" h="2161876">
                  <a:moveTo>
                    <a:pt x="0" y="0"/>
                  </a:moveTo>
                  <a:lnTo>
                    <a:pt x="19227722" y="0"/>
                  </a:lnTo>
                  <a:lnTo>
                    <a:pt x="19227722" y="2161876"/>
                  </a:lnTo>
                  <a:lnTo>
                    <a:pt x="0" y="2161876"/>
                  </a:lnTo>
                  <a:close/>
                </a:path>
              </a:pathLst>
            </a:custGeom>
            <a:blipFill>
              <a:blip r:embed="rId6">
                <a:alphaModFix amt="0"/>
              </a:blip>
              <a:stretch>
                <a:fillRect t="-123300" b="-123299"/>
              </a:stretch>
            </a:blipFill>
          </p:spPr>
        </p:sp>
        <p:sp>
          <p:nvSpPr>
            <p:cNvPr id="15" name="TextBox 15">
              <a:extLst>
                <a:ext uri="{FF2B5EF4-FFF2-40B4-BE49-F238E27FC236}">
                  <a16:creationId xmlns:a16="http://schemas.microsoft.com/office/drawing/2014/main" id="{D4A954E8-7E93-C7B1-B62C-8FD60C4F7F58}"/>
                </a:ext>
              </a:extLst>
            </p:cNvPr>
            <p:cNvSpPr txBox="1"/>
            <p:nvPr/>
          </p:nvSpPr>
          <p:spPr>
            <a:xfrm>
              <a:off x="0" y="28575"/>
              <a:ext cx="19227724" cy="2133295"/>
            </a:xfrm>
            <a:prstGeom prst="rect">
              <a:avLst/>
            </a:prstGeom>
          </p:spPr>
          <p:txBody>
            <a:bodyPr lIns="0" tIns="0" rIns="0" bIns="0" rtlCol="0" anchor="ctr"/>
            <a:lstStyle/>
            <a:p>
              <a:pPr algn="l">
                <a:lnSpc>
                  <a:spcPts val="5830"/>
                </a:lnSpc>
              </a:pPr>
              <a:r>
                <a:rPr lang="en-US" sz="5400" dirty="0">
                  <a:solidFill>
                    <a:srgbClr val="FFFFFF"/>
                  </a:solidFill>
                  <a:latin typeface="Arial" panose="020B0604020202020204"/>
                  <a:ea typeface="Arial" panose="020B0604020202020204"/>
                  <a:cs typeface="Arial" panose="020B0604020202020204"/>
                  <a:sym typeface="Arial" panose="020B0604020202020204"/>
                </a:rPr>
                <a:t>Security Gap Analysis</a:t>
              </a:r>
            </a:p>
          </p:txBody>
        </p:sp>
      </p:grpSp>
      <p:grpSp>
        <p:nvGrpSpPr>
          <p:cNvPr id="16" name="Group 16">
            <a:extLst>
              <a:ext uri="{FF2B5EF4-FFF2-40B4-BE49-F238E27FC236}">
                <a16:creationId xmlns:a16="http://schemas.microsoft.com/office/drawing/2014/main" id="{9AAB9487-76C7-FDF4-92DB-1181577137EB}"/>
              </a:ext>
            </a:extLst>
          </p:cNvPr>
          <p:cNvGrpSpPr/>
          <p:nvPr/>
        </p:nvGrpSpPr>
        <p:grpSpPr>
          <a:xfrm>
            <a:off x="15835160" y="1630899"/>
            <a:ext cx="2401291" cy="2371973"/>
            <a:chOff x="0" y="0"/>
            <a:chExt cx="3201721" cy="3162630"/>
          </a:xfrm>
        </p:grpSpPr>
        <p:sp>
          <p:nvSpPr>
            <p:cNvPr id="17" name="Freeform 17">
              <a:extLst>
                <a:ext uri="{FF2B5EF4-FFF2-40B4-BE49-F238E27FC236}">
                  <a16:creationId xmlns:a16="http://schemas.microsoft.com/office/drawing/2014/main" id="{CC8CD152-0E1D-AE5E-A39A-EC339D0B927B}"/>
                </a:ext>
              </a:extLst>
            </p:cNvPr>
            <p:cNvSpPr/>
            <p:nvPr/>
          </p:nvSpPr>
          <p:spPr>
            <a:xfrm>
              <a:off x="0" y="0"/>
              <a:ext cx="3201670" cy="3162681"/>
            </a:xfrm>
            <a:custGeom>
              <a:avLst/>
              <a:gdLst/>
              <a:ahLst/>
              <a:cxnLst/>
              <a:rect l="l" t="t" r="r" b="b"/>
              <a:pathLst>
                <a:path w="3201670" h="3162681">
                  <a:moveTo>
                    <a:pt x="0" y="0"/>
                  </a:moveTo>
                  <a:lnTo>
                    <a:pt x="3201670" y="0"/>
                  </a:lnTo>
                  <a:lnTo>
                    <a:pt x="3201670" y="3162681"/>
                  </a:lnTo>
                  <a:lnTo>
                    <a:pt x="0" y="3162681"/>
                  </a:lnTo>
                  <a:lnTo>
                    <a:pt x="0" y="0"/>
                  </a:lnTo>
                  <a:close/>
                </a:path>
              </a:pathLst>
            </a:custGeom>
            <a:blipFill>
              <a:blip r:embed="rId7"/>
              <a:stretch>
                <a:fillRect r="-1" b="1"/>
              </a:stretch>
            </a:blipFill>
          </p:spPr>
        </p:sp>
      </p:grpSp>
      <p:grpSp>
        <p:nvGrpSpPr>
          <p:cNvPr id="18" name="Group 18">
            <a:extLst>
              <a:ext uri="{FF2B5EF4-FFF2-40B4-BE49-F238E27FC236}">
                <a16:creationId xmlns:a16="http://schemas.microsoft.com/office/drawing/2014/main" id="{B0FD96C3-762B-A53B-2BD5-C57D76302D7C}"/>
              </a:ext>
            </a:extLst>
          </p:cNvPr>
          <p:cNvGrpSpPr/>
          <p:nvPr/>
        </p:nvGrpSpPr>
        <p:grpSpPr>
          <a:xfrm>
            <a:off x="13481580" y="65599"/>
            <a:ext cx="2743400" cy="2743400"/>
            <a:chOff x="0" y="0"/>
            <a:chExt cx="3657867" cy="3657867"/>
          </a:xfrm>
        </p:grpSpPr>
        <p:sp>
          <p:nvSpPr>
            <p:cNvPr id="19" name="Freeform 19">
              <a:extLst>
                <a:ext uri="{FF2B5EF4-FFF2-40B4-BE49-F238E27FC236}">
                  <a16:creationId xmlns:a16="http://schemas.microsoft.com/office/drawing/2014/main" id="{FD4B03BD-C49F-F145-1CAD-38645F9FD01A}"/>
                </a:ext>
              </a:extLst>
            </p:cNvPr>
            <p:cNvSpPr/>
            <p:nvPr/>
          </p:nvSpPr>
          <p:spPr>
            <a:xfrm>
              <a:off x="0" y="0"/>
              <a:ext cx="3657854" cy="3657854"/>
            </a:xfrm>
            <a:custGeom>
              <a:avLst/>
              <a:gdLst/>
              <a:ahLst/>
              <a:cxnLst/>
              <a:rect l="l" t="t" r="r" b="b"/>
              <a:pathLst>
                <a:path w="3657854" h="3657854">
                  <a:moveTo>
                    <a:pt x="0" y="0"/>
                  </a:moveTo>
                  <a:lnTo>
                    <a:pt x="3657854" y="0"/>
                  </a:lnTo>
                  <a:lnTo>
                    <a:pt x="3657854" y="3657854"/>
                  </a:lnTo>
                  <a:lnTo>
                    <a:pt x="0" y="3657854"/>
                  </a:lnTo>
                  <a:lnTo>
                    <a:pt x="0" y="0"/>
                  </a:lnTo>
                  <a:close/>
                </a:path>
              </a:pathLst>
            </a:custGeom>
            <a:blipFill>
              <a:blip r:embed="rId8"/>
              <a:stretch>
                <a:fillRect/>
              </a:stretch>
            </a:blipFill>
          </p:spPr>
        </p:sp>
      </p:grpSp>
      <p:sp>
        <p:nvSpPr>
          <p:cNvPr id="20" name="TextBox 20">
            <a:extLst>
              <a:ext uri="{FF2B5EF4-FFF2-40B4-BE49-F238E27FC236}">
                <a16:creationId xmlns:a16="http://schemas.microsoft.com/office/drawing/2014/main" id="{B90FADA7-ACB3-F33E-292D-C77D9C7ACAB0}"/>
              </a:ext>
            </a:extLst>
          </p:cNvPr>
          <p:cNvSpPr txBox="1"/>
          <p:nvPr/>
        </p:nvSpPr>
        <p:spPr>
          <a:xfrm>
            <a:off x="457201" y="3085783"/>
            <a:ext cx="15294292" cy="6379823"/>
          </a:xfrm>
          <a:prstGeom prst="rect">
            <a:avLst/>
          </a:prstGeom>
        </p:spPr>
        <p:txBody>
          <a:bodyPr wrap="square" lIns="0" tIns="0" rIns="0" bIns="0" rtlCol="0" anchor="t">
            <a:spAutoFit/>
          </a:bodyPr>
          <a:lstStyle/>
          <a:p>
            <a:pPr lvl="0" algn="just" fontAlgn="base">
              <a:lnSpc>
                <a:spcPct val="150000"/>
              </a:lnSpc>
            </a:pPr>
            <a:r>
              <a:rPr lang="en-US" sz="3500" dirty="0"/>
              <a:t>​</a:t>
            </a:r>
            <a:r>
              <a:rPr lang="en-US" sz="3500" b="1" dirty="0"/>
              <a:t>Session Management – Medium:</a:t>
            </a:r>
            <a:r>
              <a:rPr lang="en-US" sz="3500" dirty="0"/>
              <a:t> Password changes may leave existing sessions on other devices active. ​</a:t>
            </a:r>
          </a:p>
          <a:p>
            <a:pPr lvl="0" algn="just" fontAlgn="base">
              <a:lnSpc>
                <a:spcPct val="150000"/>
              </a:lnSpc>
            </a:pPr>
            <a:r>
              <a:rPr lang="en-US" sz="3500" b="1" dirty="0"/>
              <a:t>Data Protection – Medium:</a:t>
            </a:r>
            <a:r>
              <a:rPr lang="en-US" sz="3500" dirty="0"/>
              <a:t> Sensitive applicant records and documents require stronger encryption and retention controls. ​</a:t>
            </a:r>
          </a:p>
          <a:p>
            <a:pPr lvl="0" algn="just" fontAlgn="base">
              <a:lnSpc>
                <a:spcPct val="150000"/>
              </a:lnSpc>
            </a:pPr>
            <a:r>
              <a:rPr lang="en-US" sz="3500" b="1" dirty="0"/>
              <a:t>Audit Logging – Medium:</a:t>
            </a:r>
            <a:r>
              <a:rPr lang="en-US" sz="3500" dirty="0"/>
              <a:t> Sensitive activities such as document access and report exports require stronger monitoring and auditing. ​</a:t>
            </a:r>
          </a:p>
          <a:p>
            <a:pPr lvl="0" algn="just" fontAlgn="base">
              <a:lnSpc>
                <a:spcPct val="150000"/>
              </a:lnSpc>
            </a:pPr>
            <a:r>
              <a:rPr lang="en-US" sz="3500" b="1" dirty="0"/>
              <a:t>Content Security Policy – Medium:</a:t>
            </a:r>
            <a:r>
              <a:rPr lang="en-US" sz="3500" dirty="0"/>
              <a:t> The current CSP permits unsafe-inline, reducing protection against browser-based injection attacks. ​</a:t>
            </a:r>
          </a:p>
        </p:txBody>
      </p:sp>
    </p:spTree>
    <p:extLst>
      <p:ext uri="{BB962C8B-B14F-4D97-AF65-F5344CB8AC3E}">
        <p14:creationId xmlns:p14="http://schemas.microsoft.com/office/powerpoint/2010/main" val="1689722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25B70-C591-32A8-D6F7-08B87BBA12D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4405338-84F2-186C-96F8-CE20792A5AC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a:extLst>
              <a:ext uri="{FF2B5EF4-FFF2-40B4-BE49-F238E27FC236}">
                <a16:creationId xmlns:a16="http://schemas.microsoft.com/office/drawing/2014/main" id="{14711BCA-9194-F631-0710-29464046F661}"/>
              </a:ext>
            </a:extLst>
          </p:cNvPr>
          <p:cNvGrpSpPr/>
          <p:nvPr/>
        </p:nvGrpSpPr>
        <p:grpSpPr>
          <a:xfrm>
            <a:off x="0" y="0"/>
            <a:ext cx="18288000" cy="10287000"/>
            <a:chOff x="0" y="0"/>
            <a:chExt cx="24384000" cy="13716000"/>
          </a:xfrm>
        </p:grpSpPr>
        <p:sp>
          <p:nvSpPr>
            <p:cNvPr id="4" name="Freeform 4" descr="hashOverlay-FullResolve.png">
              <a:extLst>
                <a:ext uri="{FF2B5EF4-FFF2-40B4-BE49-F238E27FC236}">
                  <a16:creationId xmlns:a16="http://schemas.microsoft.com/office/drawing/2014/main" id="{1DF54499-7203-B3A6-FD0B-B32FA5B9A5C0}"/>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alphaModFix amt="9999"/>
              </a:blip>
              <a:stretch>
                <a:fillRect/>
              </a:stretch>
            </a:blipFill>
          </p:spPr>
        </p:sp>
      </p:grpSp>
      <p:grpSp>
        <p:nvGrpSpPr>
          <p:cNvPr id="5" name="Group 5">
            <a:extLst>
              <a:ext uri="{FF2B5EF4-FFF2-40B4-BE49-F238E27FC236}">
                <a16:creationId xmlns:a16="http://schemas.microsoft.com/office/drawing/2014/main" id="{09637F45-C9E6-2F73-038F-34D312C48598}"/>
              </a:ext>
            </a:extLst>
          </p:cNvPr>
          <p:cNvGrpSpPr/>
          <p:nvPr/>
        </p:nvGrpSpPr>
        <p:grpSpPr>
          <a:xfrm>
            <a:off x="1" y="2955360"/>
            <a:ext cx="15656719" cy="481746"/>
            <a:chOff x="0" y="0"/>
            <a:chExt cx="20875625" cy="642328"/>
          </a:xfrm>
        </p:grpSpPr>
        <p:sp>
          <p:nvSpPr>
            <p:cNvPr id="6" name="Freeform 6" descr="HD-ShadowLong.png">
              <a:extLst>
                <a:ext uri="{FF2B5EF4-FFF2-40B4-BE49-F238E27FC236}">
                  <a16:creationId xmlns:a16="http://schemas.microsoft.com/office/drawing/2014/main" id="{98615F77-6973-45C7-4E4F-3E99896B35F5}"/>
                </a:ext>
              </a:extLst>
            </p:cNvPr>
            <p:cNvSpPr/>
            <p:nvPr/>
          </p:nvSpPr>
          <p:spPr>
            <a:xfrm>
              <a:off x="0" y="0"/>
              <a:ext cx="20875625" cy="642366"/>
            </a:xfrm>
            <a:custGeom>
              <a:avLst/>
              <a:gdLst/>
              <a:ahLst/>
              <a:cxnLst/>
              <a:rect l="l" t="t" r="r" b="b"/>
              <a:pathLst>
                <a:path w="20875625" h="642366">
                  <a:moveTo>
                    <a:pt x="0" y="0"/>
                  </a:moveTo>
                  <a:lnTo>
                    <a:pt x="20875625" y="0"/>
                  </a:lnTo>
                  <a:lnTo>
                    <a:pt x="20875625" y="642366"/>
                  </a:lnTo>
                  <a:lnTo>
                    <a:pt x="0" y="642366"/>
                  </a:lnTo>
                  <a:lnTo>
                    <a:pt x="0" y="0"/>
                  </a:lnTo>
                  <a:close/>
                </a:path>
              </a:pathLst>
            </a:custGeom>
            <a:blipFill>
              <a:blip r:embed="rId4"/>
              <a:stretch>
                <a:fillRect b="5"/>
              </a:stretch>
            </a:blipFill>
          </p:spPr>
        </p:sp>
      </p:grpSp>
      <p:grpSp>
        <p:nvGrpSpPr>
          <p:cNvPr id="7" name="Group 7">
            <a:extLst>
              <a:ext uri="{FF2B5EF4-FFF2-40B4-BE49-F238E27FC236}">
                <a16:creationId xmlns:a16="http://schemas.microsoft.com/office/drawing/2014/main" id="{719A9B17-465C-E132-31D6-F4AF09D23920}"/>
              </a:ext>
            </a:extLst>
          </p:cNvPr>
          <p:cNvGrpSpPr/>
          <p:nvPr/>
        </p:nvGrpSpPr>
        <p:grpSpPr>
          <a:xfrm>
            <a:off x="15878737" y="2956855"/>
            <a:ext cx="2404491" cy="216408"/>
            <a:chOff x="0" y="0"/>
            <a:chExt cx="3205988" cy="288544"/>
          </a:xfrm>
        </p:grpSpPr>
        <p:sp>
          <p:nvSpPr>
            <p:cNvPr id="8" name="Freeform 8" descr="HD-ShadowShort.png">
              <a:extLst>
                <a:ext uri="{FF2B5EF4-FFF2-40B4-BE49-F238E27FC236}">
                  <a16:creationId xmlns:a16="http://schemas.microsoft.com/office/drawing/2014/main" id="{C836C6E3-B478-7FC8-FB4F-0212418AE08F}"/>
                </a:ext>
              </a:extLst>
            </p:cNvPr>
            <p:cNvSpPr/>
            <p:nvPr/>
          </p:nvSpPr>
          <p:spPr>
            <a:xfrm>
              <a:off x="0" y="0"/>
              <a:ext cx="3205988" cy="288544"/>
            </a:xfrm>
            <a:custGeom>
              <a:avLst/>
              <a:gdLst/>
              <a:ahLst/>
              <a:cxnLst/>
              <a:rect l="l" t="t" r="r" b="b"/>
              <a:pathLst>
                <a:path w="3205988" h="288544">
                  <a:moveTo>
                    <a:pt x="0" y="0"/>
                  </a:moveTo>
                  <a:lnTo>
                    <a:pt x="3205988" y="0"/>
                  </a:lnTo>
                  <a:lnTo>
                    <a:pt x="3205988" y="288544"/>
                  </a:lnTo>
                  <a:lnTo>
                    <a:pt x="0" y="288544"/>
                  </a:lnTo>
                  <a:lnTo>
                    <a:pt x="0" y="0"/>
                  </a:lnTo>
                  <a:close/>
                </a:path>
              </a:pathLst>
            </a:custGeom>
            <a:blipFill>
              <a:blip r:embed="rId5"/>
              <a:stretch>
                <a:fillRect/>
              </a:stretch>
            </a:blipFill>
          </p:spPr>
        </p:sp>
      </p:grpSp>
      <p:grpSp>
        <p:nvGrpSpPr>
          <p:cNvPr id="9" name="Group 9">
            <a:extLst>
              <a:ext uri="{FF2B5EF4-FFF2-40B4-BE49-F238E27FC236}">
                <a16:creationId xmlns:a16="http://schemas.microsoft.com/office/drawing/2014/main" id="{29FCFCBD-BF38-0DDF-8A87-B7E679B1ACBD}"/>
              </a:ext>
            </a:extLst>
          </p:cNvPr>
          <p:cNvGrpSpPr/>
          <p:nvPr/>
        </p:nvGrpSpPr>
        <p:grpSpPr>
          <a:xfrm>
            <a:off x="0" y="914400"/>
            <a:ext cx="15656719" cy="2052295"/>
            <a:chOff x="0" y="0"/>
            <a:chExt cx="20875625" cy="2736393"/>
          </a:xfrm>
        </p:grpSpPr>
        <p:sp>
          <p:nvSpPr>
            <p:cNvPr id="10" name="Freeform 10">
              <a:extLst>
                <a:ext uri="{FF2B5EF4-FFF2-40B4-BE49-F238E27FC236}">
                  <a16:creationId xmlns:a16="http://schemas.microsoft.com/office/drawing/2014/main" id="{10AD400C-33BD-C693-A7D8-1CE6AF9C2C5E}"/>
                </a:ext>
              </a:extLst>
            </p:cNvPr>
            <p:cNvSpPr/>
            <p:nvPr/>
          </p:nvSpPr>
          <p:spPr>
            <a:xfrm>
              <a:off x="0" y="0"/>
              <a:ext cx="20875625" cy="2736342"/>
            </a:xfrm>
            <a:custGeom>
              <a:avLst/>
              <a:gdLst/>
              <a:ahLst/>
              <a:cxnLst/>
              <a:rect l="l" t="t" r="r" b="b"/>
              <a:pathLst>
                <a:path w="20875625" h="2736342">
                  <a:moveTo>
                    <a:pt x="0" y="0"/>
                  </a:moveTo>
                  <a:lnTo>
                    <a:pt x="20875625" y="0"/>
                  </a:lnTo>
                  <a:lnTo>
                    <a:pt x="20875625" y="2736342"/>
                  </a:lnTo>
                  <a:lnTo>
                    <a:pt x="0" y="2736342"/>
                  </a:lnTo>
                  <a:close/>
                </a:path>
              </a:pathLst>
            </a:custGeom>
            <a:solidFill>
              <a:srgbClr val="262626"/>
            </a:solidFill>
          </p:spPr>
        </p:sp>
      </p:grpSp>
      <p:grpSp>
        <p:nvGrpSpPr>
          <p:cNvPr id="11" name="Group 11">
            <a:extLst>
              <a:ext uri="{FF2B5EF4-FFF2-40B4-BE49-F238E27FC236}">
                <a16:creationId xmlns:a16="http://schemas.microsoft.com/office/drawing/2014/main" id="{3A4F0128-CF50-5FE3-00ED-3B59E17ED0EE}"/>
              </a:ext>
            </a:extLst>
          </p:cNvPr>
          <p:cNvGrpSpPr/>
          <p:nvPr/>
        </p:nvGrpSpPr>
        <p:grpSpPr>
          <a:xfrm>
            <a:off x="15878737" y="914400"/>
            <a:ext cx="2404491" cy="2052295"/>
            <a:chOff x="0" y="0"/>
            <a:chExt cx="3205988" cy="2736393"/>
          </a:xfrm>
        </p:grpSpPr>
        <p:sp>
          <p:nvSpPr>
            <p:cNvPr id="12" name="Freeform 12">
              <a:extLst>
                <a:ext uri="{FF2B5EF4-FFF2-40B4-BE49-F238E27FC236}">
                  <a16:creationId xmlns:a16="http://schemas.microsoft.com/office/drawing/2014/main" id="{A4AEA294-2041-6541-DCA7-D4C82FDC2C8A}"/>
                </a:ext>
              </a:extLst>
            </p:cNvPr>
            <p:cNvSpPr/>
            <p:nvPr/>
          </p:nvSpPr>
          <p:spPr>
            <a:xfrm>
              <a:off x="0" y="0"/>
              <a:ext cx="3205988" cy="2736342"/>
            </a:xfrm>
            <a:custGeom>
              <a:avLst/>
              <a:gdLst/>
              <a:ahLst/>
              <a:cxnLst/>
              <a:rect l="l" t="t" r="r" b="b"/>
              <a:pathLst>
                <a:path w="3205988" h="2736342">
                  <a:moveTo>
                    <a:pt x="0" y="0"/>
                  </a:moveTo>
                  <a:lnTo>
                    <a:pt x="3205988" y="0"/>
                  </a:lnTo>
                  <a:lnTo>
                    <a:pt x="3205988" y="2736342"/>
                  </a:lnTo>
                  <a:lnTo>
                    <a:pt x="0" y="2736342"/>
                  </a:lnTo>
                  <a:close/>
                </a:path>
              </a:pathLst>
            </a:custGeom>
            <a:solidFill>
              <a:srgbClr val="A7D535"/>
            </a:solidFill>
          </p:spPr>
        </p:sp>
      </p:grpSp>
      <p:sp>
        <p:nvSpPr>
          <p:cNvPr id="15" name="TextBox 15">
            <a:extLst>
              <a:ext uri="{FF2B5EF4-FFF2-40B4-BE49-F238E27FC236}">
                <a16:creationId xmlns:a16="http://schemas.microsoft.com/office/drawing/2014/main" id="{9858693B-8BC4-11FF-4A40-0BF1559B6BD7}"/>
              </a:ext>
            </a:extLst>
          </p:cNvPr>
          <p:cNvSpPr txBox="1"/>
          <p:nvPr/>
        </p:nvSpPr>
        <p:spPr>
          <a:xfrm>
            <a:off x="466726" y="1096742"/>
            <a:ext cx="14420793" cy="1599971"/>
          </a:xfrm>
          <a:prstGeom prst="rect">
            <a:avLst/>
          </a:prstGeom>
        </p:spPr>
        <p:txBody>
          <a:bodyPr lIns="0" tIns="0" rIns="0" bIns="0" rtlCol="0" anchor="ctr"/>
          <a:lstStyle/>
          <a:p>
            <a:pPr algn="l">
              <a:lnSpc>
                <a:spcPts val="5830"/>
              </a:lnSpc>
            </a:pPr>
            <a:r>
              <a:rPr lang="en-US" sz="5400" dirty="0">
                <a:solidFill>
                  <a:srgbClr val="FFFFFF"/>
                </a:solidFill>
                <a:latin typeface="Arial" panose="020B0604020202020204"/>
                <a:ea typeface="Arial" panose="020B0604020202020204"/>
                <a:cs typeface="Arial" panose="020B0604020202020204"/>
                <a:sym typeface="Arial" panose="020B0604020202020204"/>
              </a:rPr>
              <a:t>Conclusion System Security</a:t>
            </a:r>
          </a:p>
        </p:txBody>
      </p:sp>
      <p:grpSp>
        <p:nvGrpSpPr>
          <p:cNvPr id="16" name="Group 16">
            <a:extLst>
              <a:ext uri="{FF2B5EF4-FFF2-40B4-BE49-F238E27FC236}">
                <a16:creationId xmlns:a16="http://schemas.microsoft.com/office/drawing/2014/main" id="{567770E9-2726-B07B-3BAD-BDCEEF833EBF}"/>
              </a:ext>
            </a:extLst>
          </p:cNvPr>
          <p:cNvGrpSpPr/>
          <p:nvPr/>
        </p:nvGrpSpPr>
        <p:grpSpPr>
          <a:xfrm>
            <a:off x="15835160" y="1630899"/>
            <a:ext cx="2401291" cy="2371973"/>
            <a:chOff x="0" y="0"/>
            <a:chExt cx="3201721" cy="3162630"/>
          </a:xfrm>
        </p:grpSpPr>
        <p:sp>
          <p:nvSpPr>
            <p:cNvPr id="17" name="Freeform 17">
              <a:extLst>
                <a:ext uri="{FF2B5EF4-FFF2-40B4-BE49-F238E27FC236}">
                  <a16:creationId xmlns:a16="http://schemas.microsoft.com/office/drawing/2014/main" id="{67A17463-907F-5EBF-2B74-886293CE2B59}"/>
                </a:ext>
              </a:extLst>
            </p:cNvPr>
            <p:cNvSpPr/>
            <p:nvPr/>
          </p:nvSpPr>
          <p:spPr>
            <a:xfrm>
              <a:off x="0" y="0"/>
              <a:ext cx="3201670" cy="3162681"/>
            </a:xfrm>
            <a:custGeom>
              <a:avLst/>
              <a:gdLst/>
              <a:ahLst/>
              <a:cxnLst/>
              <a:rect l="l" t="t" r="r" b="b"/>
              <a:pathLst>
                <a:path w="3201670" h="3162681">
                  <a:moveTo>
                    <a:pt x="0" y="0"/>
                  </a:moveTo>
                  <a:lnTo>
                    <a:pt x="3201670" y="0"/>
                  </a:lnTo>
                  <a:lnTo>
                    <a:pt x="3201670" y="3162681"/>
                  </a:lnTo>
                  <a:lnTo>
                    <a:pt x="0" y="3162681"/>
                  </a:lnTo>
                  <a:lnTo>
                    <a:pt x="0" y="0"/>
                  </a:lnTo>
                  <a:close/>
                </a:path>
              </a:pathLst>
            </a:custGeom>
            <a:blipFill>
              <a:blip r:embed="rId6"/>
              <a:stretch>
                <a:fillRect r="-1" b="1"/>
              </a:stretch>
            </a:blipFill>
          </p:spPr>
        </p:sp>
      </p:grpSp>
      <p:grpSp>
        <p:nvGrpSpPr>
          <p:cNvPr id="18" name="Group 18">
            <a:extLst>
              <a:ext uri="{FF2B5EF4-FFF2-40B4-BE49-F238E27FC236}">
                <a16:creationId xmlns:a16="http://schemas.microsoft.com/office/drawing/2014/main" id="{04DEDEB5-F4C4-DA05-B44E-89DE74069919}"/>
              </a:ext>
            </a:extLst>
          </p:cNvPr>
          <p:cNvGrpSpPr/>
          <p:nvPr/>
        </p:nvGrpSpPr>
        <p:grpSpPr>
          <a:xfrm>
            <a:off x="13481580" y="65599"/>
            <a:ext cx="2743400" cy="2743400"/>
            <a:chOff x="0" y="0"/>
            <a:chExt cx="3657867" cy="3657867"/>
          </a:xfrm>
        </p:grpSpPr>
        <p:sp>
          <p:nvSpPr>
            <p:cNvPr id="19" name="Freeform 19">
              <a:extLst>
                <a:ext uri="{FF2B5EF4-FFF2-40B4-BE49-F238E27FC236}">
                  <a16:creationId xmlns:a16="http://schemas.microsoft.com/office/drawing/2014/main" id="{281B74B6-F270-A91A-7658-14D2257A17B2}"/>
                </a:ext>
              </a:extLst>
            </p:cNvPr>
            <p:cNvSpPr/>
            <p:nvPr/>
          </p:nvSpPr>
          <p:spPr>
            <a:xfrm>
              <a:off x="0" y="0"/>
              <a:ext cx="3657854" cy="3657854"/>
            </a:xfrm>
            <a:custGeom>
              <a:avLst/>
              <a:gdLst/>
              <a:ahLst/>
              <a:cxnLst/>
              <a:rect l="l" t="t" r="r" b="b"/>
              <a:pathLst>
                <a:path w="3657854" h="3657854">
                  <a:moveTo>
                    <a:pt x="0" y="0"/>
                  </a:moveTo>
                  <a:lnTo>
                    <a:pt x="3657854" y="0"/>
                  </a:lnTo>
                  <a:lnTo>
                    <a:pt x="3657854" y="3657854"/>
                  </a:lnTo>
                  <a:lnTo>
                    <a:pt x="0" y="3657854"/>
                  </a:lnTo>
                  <a:lnTo>
                    <a:pt x="0" y="0"/>
                  </a:lnTo>
                  <a:close/>
                </a:path>
              </a:pathLst>
            </a:custGeom>
            <a:blipFill>
              <a:blip r:embed="rId7"/>
              <a:stretch>
                <a:fillRect/>
              </a:stretch>
            </a:blipFill>
          </p:spPr>
        </p:sp>
      </p:grpSp>
      <p:sp>
        <p:nvSpPr>
          <p:cNvPr id="20" name="TextBox 20">
            <a:extLst>
              <a:ext uri="{FF2B5EF4-FFF2-40B4-BE49-F238E27FC236}">
                <a16:creationId xmlns:a16="http://schemas.microsoft.com/office/drawing/2014/main" id="{8FD065A5-9FC5-43B4-7CC8-FAAB43DB15DD}"/>
              </a:ext>
            </a:extLst>
          </p:cNvPr>
          <p:cNvSpPr txBox="1"/>
          <p:nvPr/>
        </p:nvSpPr>
        <p:spPr>
          <a:xfrm>
            <a:off x="457201" y="3085783"/>
            <a:ext cx="15294292" cy="7386638"/>
          </a:xfrm>
          <a:prstGeom prst="rect">
            <a:avLst/>
          </a:prstGeom>
        </p:spPr>
        <p:txBody>
          <a:bodyPr wrap="square" lIns="0" tIns="0" rIns="0" bIns="0" rtlCol="0" anchor="t">
            <a:spAutoFit/>
          </a:bodyPr>
          <a:lstStyle/>
          <a:p>
            <a:pPr algn="just" fontAlgn="base">
              <a:lnSpc>
                <a:spcPct val="150000"/>
              </a:lnSpc>
            </a:pPr>
            <a:r>
              <a:rPr lang="en-US" sz="3000" dirty="0"/>
              <a:t> The </a:t>
            </a:r>
            <a:r>
              <a:rPr lang="en-US" sz="3000" b="1" dirty="0" err="1"/>
              <a:t>CommuniFund</a:t>
            </a:r>
            <a:r>
              <a:rPr lang="en-US" sz="3000" b="1" dirty="0"/>
              <a:t> Assistance System</a:t>
            </a:r>
            <a:r>
              <a:rPr lang="en-US" sz="3000" dirty="0"/>
              <a:t> has significantly improved its security through stronger authentication, authorization, private document storage, secure session handling, TLS verification, database safeguards, and rate limiting. These improvements reduced the application-level security risk from </a:t>
            </a:r>
            <a:r>
              <a:rPr lang="en-US" sz="3000" b="1" dirty="0"/>
              <a:t>High to Medium</a:t>
            </a:r>
            <a:r>
              <a:rPr lang="en-US" sz="3000" dirty="0"/>
              <a:t> and strengthened protection against unauthorized access, data exposure, account takeover, and system abuse. However, important operational risks still require attention, particularly the removal of sensitive database backups from Git history, securing previously deployed default administrator accounts, and implementing additional measures such as multi-factor authentication, centralized session revocation, encryption, and auditing. Overall, the system is substantially more secure, but the remaining security measures and production acceptance testing should be completed before full deployment.​</a:t>
            </a:r>
          </a:p>
          <a:p>
            <a:pPr lvl="0" algn="just" fontAlgn="base"/>
            <a:r>
              <a:rPr lang="en-US" sz="3000" dirty="0"/>
              <a:t>​</a:t>
            </a:r>
          </a:p>
        </p:txBody>
      </p:sp>
    </p:spTree>
    <p:extLst>
      <p:ext uri="{BB962C8B-B14F-4D97-AF65-F5344CB8AC3E}">
        <p14:creationId xmlns:p14="http://schemas.microsoft.com/office/powerpoint/2010/main" val="39533581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635</TotalTime>
  <Words>725</Words>
  <Application>Microsoft Office PowerPoint</Application>
  <PresentationFormat>Custom</PresentationFormat>
  <Paragraphs>66</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Calibri</vt:lpstr>
      <vt:lpstr>Times New Roman</vt:lpstr>
      <vt:lpstr>Arial</vt:lpstr>
      <vt:lpstr>Arial Bold</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SIA1Template.pptx</dc:title>
  <dc:creator/>
  <cp:lastModifiedBy>zirel caresma</cp:lastModifiedBy>
  <cp:revision>27</cp:revision>
  <dcterms:created xsi:type="dcterms:W3CDTF">2006-08-16T00:00:00Z</dcterms:created>
  <dcterms:modified xsi:type="dcterms:W3CDTF">2026-08-21T13:24:07Z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D126225AB75E43B887E8F63F663C5192_12</vt:lpwstr>
  </property>
</Properties>
</file>